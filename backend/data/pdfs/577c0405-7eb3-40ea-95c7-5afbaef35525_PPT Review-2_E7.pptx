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Override PartName="/ppt/media/image2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2" name="Shape 112"/>
          <p:cNvSpPr/>
          <p:nvPr>
            <p:ph type="sldImg"/>
          </p:nvPr>
        </p:nvSpPr>
        <p:spPr>
          <a:xfrm>
            <a:off x="1143000" y="685800"/>
            <a:ext cx="4572000" cy="3429000"/>
          </a:xfrm>
          <a:prstGeom prst="rect">
            <a:avLst/>
          </a:prstGeom>
        </p:spPr>
        <p:txBody>
          <a:bodyPr/>
          <a:lstStyle/>
          <a:p>
            <a:pPr/>
          </a:p>
        </p:txBody>
      </p:sp>
      <p:sp>
        <p:nvSpPr>
          <p:cNvPr id="113" name="Shape 11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406400" indent="-355600" algn="ctr">
              <a:buClrTx/>
              <a:buSzTx/>
              <a:buFontTx/>
              <a:buNone/>
              <a:defRPr sz="2400"/>
            </a:lvl1pPr>
            <a:lvl2pPr marL="406400" indent="127000" algn="ctr">
              <a:buClrTx/>
              <a:buSzTx/>
              <a:buFontTx/>
              <a:buNone/>
              <a:defRPr sz="2400"/>
            </a:lvl2pPr>
            <a:lvl3pPr marL="406400" indent="609600" algn="ctr">
              <a:buClrTx/>
              <a:buSzTx/>
              <a:buFontTx/>
              <a:buNone/>
              <a:defRPr sz="2400"/>
            </a:lvl3pPr>
            <a:lvl4pPr marL="406400" indent="1079500" algn="ctr">
              <a:buClrTx/>
              <a:buSzTx/>
              <a:buFontTx/>
              <a:buNone/>
              <a:defRPr sz="2400"/>
            </a:lvl4pPr>
            <a:lvl5pPr marL="406400" indent="1536700" algn="ctr">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Google Shape;32;p5"/>
          <p:cNvSpPr txBox="1"/>
          <p:nvPr>
            <p:ph type="body" sz="half" idx="21"/>
          </p:nvPr>
        </p:nvSpPr>
        <p:spPr>
          <a:xfrm>
            <a:off x="6172200" y="1825625"/>
            <a:ext cx="5181600" cy="4351338"/>
          </a:xfrm>
          <a:prstGeom prst="rect">
            <a:avLst/>
          </a:prstGeom>
        </p:spPr>
        <p:txBody>
          <a:bodyPr/>
          <a:lstStyle/>
          <a:p>
            <a:pP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48" name="Title Text"/>
          <p:cNvSpPr txBox="1"/>
          <p:nvPr>
            <p:ph type="title"/>
          </p:nvPr>
        </p:nvSpPr>
        <p:spPr>
          <a:xfrm>
            <a:off x="839787" y="365125"/>
            <a:ext cx="10515601" cy="1325563"/>
          </a:xfrm>
          <a:prstGeom prst="rect">
            <a:avLst/>
          </a:prstGeom>
        </p:spPr>
        <p:txBody>
          <a:bodyPr/>
          <a:lstStyle/>
          <a:p>
            <a:pPr/>
            <a:r>
              <a:t>Title Text</a:t>
            </a:r>
          </a:p>
        </p:txBody>
      </p:sp>
      <p:sp>
        <p:nvSpPr>
          <p:cNvPr id="49"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0" name="Google Shape;39;p6"/>
          <p:cNvSpPr txBox="1"/>
          <p:nvPr>
            <p:ph type="body" sz="half" idx="21"/>
          </p:nvPr>
        </p:nvSpPr>
        <p:spPr>
          <a:xfrm>
            <a:off x="839787" y="2505075"/>
            <a:ext cx="5157788" cy="3684588"/>
          </a:xfrm>
          <a:prstGeom prst="rect">
            <a:avLst/>
          </a:prstGeom>
        </p:spPr>
        <p:txBody>
          <a:bodyPr/>
          <a:lstStyle/>
          <a:p>
            <a:pPr/>
          </a:p>
        </p:txBody>
      </p:sp>
      <p:sp>
        <p:nvSpPr>
          <p:cNvPr id="51" name="Google Shape;40;p6"/>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52" name="Google Shape;41;p6"/>
          <p:cNvSpPr txBox="1"/>
          <p:nvPr>
            <p:ph type="body" sz="half" idx="23"/>
          </p:nvPr>
        </p:nvSpPr>
        <p:spPr>
          <a:xfrm>
            <a:off x="6172200" y="2505075"/>
            <a:ext cx="5183188" cy="3684588"/>
          </a:xfrm>
          <a:prstGeom prst="rect">
            <a:avLst/>
          </a:prstGeom>
        </p:spPr>
        <p:txBody>
          <a:bodyPr/>
          <a:lstStyle/>
          <a:p>
            <a:pP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0" name="Title Text"/>
          <p:cNvSpPr txBox="1"/>
          <p:nvPr>
            <p:ph type="title"/>
          </p:nvPr>
        </p:nvSpPr>
        <p:spPr>
          <a:prstGeom prst="rect">
            <a:avLst/>
          </a:prstGeom>
        </p:spPr>
        <p:txBody>
          <a:bodyPr/>
          <a:lstStyle/>
          <a:p>
            <a:pPr/>
            <a:r>
              <a:t>Title Text</a:t>
            </a:r>
          </a:p>
        </p:txBody>
      </p:sp>
      <p:sp>
        <p:nvSpPr>
          <p:cNvPr id="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5"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6"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77" name="Google Shape;57;p9"/>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5"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6" name="Google Shape;63;p10"/>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87"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95" name="Title Text"/>
          <p:cNvSpPr txBox="1"/>
          <p:nvPr>
            <p:ph type="title"/>
          </p:nvPr>
        </p:nvSpPr>
        <p:spPr>
          <a:prstGeom prst="rect">
            <a:avLst/>
          </a:prstGeom>
        </p:spPr>
        <p:txBody>
          <a:bodyPr/>
          <a:lstStyle/>
          <a:p>
            <a:pPr/>
            <a:r>
              <a:t>Title Text</a:t>
            </a:r>
          </a:p>
        </p:txBody>
      </p:sp>
      <p:sp>
        <p:nvSpPr>
          <p:cNvPr id="96"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04" name="Title Text"/>
          <p:cNvSpPr txBox="1"/>
          <p:nvPr>
            <p:ph type="title"/>
          </p:nvPr>
        </p:nvSpPr>
        <p:spPr>
          <a:xfrm rot="5400000">
            <a:off x="7133431" y="1956593"/>
            <a:ext cx="5811839" cy="2628901"/>
          </a:xfrm>
          <a:prstGeom prst="rect">
            <a:avLst/>
          </a:prstGeom>
        </p:spPr>
        <p:txBody>
          <a:bodyPr/>
          <a:lstStyle/>
          <a:p>
            <a:pPr/>
            <a:r>
              <a:t>Title Text</a:t>
            </a:r>
          </a:p>
        </p:txBody>
      </p:sp>
      <p:sp>
        <p:nvSpPr>
          <p:cNvPr id="105"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 Id="rId7" Type="http://schemas.openxmlformats.org/officeDocument/2006/relationships/image" Target="../media/image10.jpeg"/><Relationship Id="rId8" Type="http://schemas.openxmlformats.org/officeDocument/2006/relationships/image" Target="../media/image11.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0.jpeg"/></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eg"/><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image" Target="../media/image24.jpeg"/><Relationship Id="rId6" Type="http://schemas.openxmlformats.org/officeDocument/2006/relationships/image" Target="../media/image25.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Google Shape;84;p13"/>
          <p:cNvSpPr txBox="1"/>
          <p:nvPr>
            <p:ph type="ctrTitle"/>
          </p:nvPr>
        </p:nvSpPr>
        <p:spPr>
          <a:xfrm>
            <a:off x="193182" y="169326"/>
            <a:ext cx="12101850" cy="2595715"/>
          </a:xfrm>
          <a:prstGeom prst="rect">
            <a:avLst/>
          </a:prstGeom>
        </p:spPr>
        <p:txBody>
          <a:bodyPr/>
          <a:lstStyle/>
          <a:p>
            <a:pPr>
              <a:lnSpc>
                <a:spcPct val="100000"/>
              </a:lnSpc>
              <a:defRPr sz="2700">
                <a:latin typeface="Times New Roman"/>
                <a:ea typeface="Times New Roman"/>
                <a:cs typeface="Times New Roman"/>
                <a:sym typeface="Times New Roman"/>
              </a:defRPr>
            </a:pPr>
            <a:r>
              <a:t>	</a:t>
            </a:r>
            <a:r>
              <a:rPr sz="2400"/>
              <a:t>GOKARAJU RANGARAJU INSTITUTE OF ENGINEERING AND TECHNOLOGY</a:t>
            </a:r>
            <a:br>
              <a:rPr sz="2400"/>
            </a:br>
            <a:r>
              <a:t>Department of Computer Science and Engineering</a:t>
            </a:r>
            <a:br/>
            <a:br/>
            <a:r>
              <a:rPr b="1" u="sng"/>
              <a:t>Mini Project Review-2</a:t>
            </a:r>
            <a:endParaRPr b="1" u="sng"/>
          </a:p>
        </p:txBody>
      </p:sp>
      <p:sp>
        <p:nvSpPr>
          <p:cNvPr id="116" name="Google Shape;85;p13"/>
          <p:cNvSpPr txBox="1"/>
          <p:nvPr>
            <p:ph type="subTitle" sz="half" idx="1"/>
          </p:nvPr>
        </p:nvSpPr>
        <p:spPr>
          <a:xfrm>
            <a:off x="1524000" y="2454393"/>
            <a:ext cx="9144000" cy="2952437"/>
          </a:xfrm>
          <a:prstGeom prst="rect">
            <a:avLst/>
          </a:prstGeom>
        </p:spPr>
        <p:txBody>
          <a:bodyPr/>
          <a:lstStyle/>
          <a:p>
            <a:pPr marL="0" indent="0">
              <a:lnSpc>
                <a:spcPct val="100000"/>
              </a:lnSpc>
              <a:spcBef>
                <a:spcPts val="0"/>
              </a:spcBef>
              <a:defRPr b="1" sz="3600">
                <a:latin typeface="Times New Roman"/>
                <a:ea typeface="Times New Roman"/>
                <a:cs typeface="Times New Roman"/>
                <a:sym typeface="Times New Roman"/>
              </a:defRPr>
            </a:pPr>
            <a:r>
              <a:t>MoneyMitra - Every penny has purpose</a:t>
            </a:r>
          </a:p>
          <a:p>
            <a:pPr marL="0" indent="0">
              <a:lnSpc>
                <a:spcPct val="72000"/>
              </a:lnSpc>
              <a:spcBef>
                <a:spcPts val="1400"/>
              </a:spcBef>
              <a:defRPr sz="3000">
                <a:latin typeface="Times New Roman"/>
                <a:ea typeface="Times New Roman"/>
                <a:cs typeface="Times New Roman"/>
                <a:sym typeface="Times New Roman"/>
              </a:defRPr>
            </a:pPr>
            <a:r>
              <a:t>Under the esteemed guidance of</a:t>
            </a:r>
          </a:p>
          <a:p>
            <a:pPr marL="0" indent="0">
              <a:lnSpc>
                <a:spcPct val="100000"/>
              </a:lnSpc>
              <a:spcBef>
                <a:spcPts val="0"/>
              </a:spcBef>
              <a:defRPr b="1" sz="3000">
                <a:latin typeface="Times New Roman"/>
                <a:ea typeface="Times New Roman"/>
                <a:cs typeface="Times New Roman"/>
                <a:sym typeface="Times New Roman"/>
              </a:defRPr>
            </a:pPr>
            <a:r>
              <a:t>P Gopala Krishna</a:t>
            </a:r>
          </a:p>
          <a:p>
            <a:pPr marL="0" indent="0">
              <a:lnSpc>
                <a:spcPct val="100000"/>
              </a:lnSpc>
              <a:spcBef>
                <a:spcPts val="0"/>
              </a:spcBef>
              <a:defRPr b="1" sz="3000">
                <a:latin typeface="Times New Roman"/>
                <a:ea typeface="Times New Roman"/>
                <a:cs typeface="Times New Roman"/>
                <a:sym typeface="Times New Roman"/>
              </a:defRPr>
            </a:pPr>
            <a:r>
              <a:t>Professor </a:t>
            </a:r>
          </a:p>
        </p:txBody>
      </p:sp>
      <p:pic>
        <p:nvPicPr>
          <p:cNvPr id="117" name="Google Shape;86;p13" descr="Google Shape;86;p13"/>
          <p:cNvPicPr>
            <a:picLocks noChangeAspect="1"/>
          </p:cNvPicPr>
          <p:nvPr/>
        </p:nvPicPr>
        <p:blipFill>
          <a:blip r:embed="rId2">
            <a:extLst/>
          </a:blip>
          <a:stretch>
            <a:fillRect/>
          </a:stretch>
        </p:blipFill>
        <p:spPr>
          <a:xfrm>
            <a:off x="137133" y="673664"/>
            <a:ext cx="1075387" cy="964016"/>
          </a:xfrm>
          <a:prstGeom prst="rect">
            <a:avLst/>
          </a:prstGeom>
          <a:ln w="12700">
            <a:miter lim="400000"/>
          </a:ln>
        </p:spPr>
      </p:pic>
      <p:sp>
        <p:nvSpPr>
          <p:cNvPr id="118" name="Google Shape;85;p13"/>
          <p:cNvSpPr txBox="1"/>
          <p:nvPr/>
        </p:nvSpPr>
        <p:spPr>
          <a:xfrm>
            <a:off x="5777006" y="4878004"/>
            <a:ext cx="6246999" cy="17445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nSpc>
                <a:spcPct val="140000"/>
              </a:lnSpc>
              <a:defRPr sz="2000">
                <a:uFill>
                  <a:solidFill>
                    <a:srgbClr val="000000"/>
                  </a:solidFill>
                </a:uFill>
                <a:latin typeface="Times New Roman"/>
                <a:ea typeface="Times New Roman"/>
                <a:cs typeface="Times New Roman"/>
                <a:sym typeface="Times New Roman"/>
              </a:defRPr>
            </a:pPr>
            <a:r>
              <a:t>23241A05T5 - BODDU ADITHYA HARSHITH REDDY</a:t>
            </a:r>
          </a:p>
          <a:p>
            <a:pPr>
              <a:lnSpc>
                <a:spcPct val="140000"/>
              </a:lnSpc>
              <a:defRPr sz="2000">
                <a:uFill>
                  <a:solidFill>
                    <a:srgbClr val="000000"/>
                  </a:solidFill>
                </a:uFill>
                <a:latin typeface="Times New Roman"/>
                <a:ea typeface="Times New Roman"/>
                <a:cs typeface="Times New Roman"/>
                <a:sym typeface="Times New Roman"/>
              </a:defRPr>
            </a:pPr>
            <a:r>
              <a:t>23241A05U9 - G.MANIDEEP</a:t>
            </a:r>
          </a:p>
          <a:p>
            <a:pPr>
              <a:lnSpc>
                <a:spcPct val="140000"/>
              </a:lnSpc>
              <a:defRPr sz="2000">
                <a:uFill>
                  <a:solidFill>
                    <a:srgbClr val="000000"/>
                  </a:solidFill>
                </a:uFill>
                <a:latin typeface="Times New Roman"/>
                <a:ea typeface="Times New Roman"/>
                <a:cs typeface="Times New Roman"/>
                <a:sym typeface="Times New Roman"/>
              </a:defRPr>
            </a:pPr>
            <a:r>
              <a:t>23241A05V0 - HARIVARDHAN.K</a:t>
            </a:r>
          </a:p>
          <a:p>
            <a:pPr>
              <a:lnSpc>
                <a:spcPct val="140000"/>
              </a:lnSpc>
              <a:defRPr sz="2000">
                <a:uFill>
                  <a:solidFill>
                    <a:srgbClr val="000000"/>
                  </a:solidFill>
                </a:uFill>
                <a:latin typeface="Times New Roman"/>
                <a:ea typeface="Times New Roman"/>
                <a:cs typeface="Times New Roman"/>
                <a:sym typeface="Times New Roman"/>
              </a:defRPr>
            </a:pPr>
            <a:r>
              <a:t>23241A05X6 - RISHWIK REDDY RAYALAPURAM</a:t>
            </a:r>
          </a:p>
        </p:txBody>
      </p:sp>
      <p:sp>
        <p:nvSpPr>
          <p:cNvPr id="119" name="Batch No:E7"/>
          <p:cNvSpPr txBox="1"/>
          <p:nvPr/>
        </p:nvSpPr>
        <p:spPr>
          <a:xfrm>
            <a:off x="692340" y="4876510"/>
            <a:ext cx="1980547" cy="47057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b="1" sz="2700">
                <a:latin typeface="Times New Roman"/>
                <a:ea typeface="Times New Roman"/>
                <a:cs typeface="Times New Roman"/>
                <a:sym typeface="Times New Roman"/>
              </a:defRPr>
            </a:lvl1pPr>
          </a:lstStyle>
          <a:p>
            <a:pPr>
              <a:defRPr b="0"/>
            </a:pPr>
            <a:r>
              <a:rPr b="1"/>
              <a:t>Batch No:E7</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Google Shape;97;p15"/>
          <p:cNvSpPr txBox="1"/>
          <p:nvPr>
            <p:ph type="title"/>
          </p:nvPr>
        </p:nvSpPr>
        <p:spPr>
          <a:xfrm>
            <a:off x="571500" y="17171"/>
            <a:ext cx="10515600" cy="1325701"/>
          </a:xfrm>
          <a:prstGeom prst="rect">
            <a:avLst/>
          </a:prstGeom>
        </p:spPr>
        <p:txBody>
          <a:bodyPr/>
          <a:lstStyle>
            <a:lvl1pPr>
              <a:defRPr b="1" u="sng">
                <a:latin typeface="Times New Roman"/>
                <a:ea typeface="Times New Roman"/>
                <a:cs typeface="Times New Roman"/>
                <a:sym typeface="Times New Roman"/>
              </a:defRPr>
            </a:lvl1pPr>
          </a:lstStyle>
          <a:p>
            <a:pPr/>
            <a:r>
              <a:t>ABSTRACT</a:t>
            </a:r>
          </a:p>
        </p:txBody>
      </p:sp>
      <p:sp>
        <p:nvSpPr>
          <p:cNvPr id="122" name="Text Placeholder 5"/>
          <p:cNvSpPr txBox="1"/>
          <p:nvPr>
            <p:ph type="body" idx="1"/>
          </p:nvPr>
        </p:nvSpPr>
        <p:spPr>
          <a:xfrm>
            <a:off x="571500" y="1016000"/>
            <a:ext cx="11049000" cy="5334000"/>
          </a:xfrm>
          <a:prstGeom prst="rect">
            <a:avLst/>
          </a:prstGeom>
        </p:spPr>
        <p:txBody>
          <a:bodyPr lIns="45719" tIns="45719" rIns="45719" bIns="45719"/>
          <a:lstStyle>
            <a:lvl1pPr marL="0" indent="0" algn="just" defTabSz="457200">
              <a:lnSpc>
                <a:spcPct val="150000"/>
              </a:lnSpc>
              <a:spcBef>
                <a:spcPts val="1200"/>
              </a:spcBef>
              <a:buClrTx/>
              <a:buSzTx/>
              <a:buFontTx/>
              <a:buNone/>
              <a:defRPr sz="2000">
                <a:latin typeface="Times New Roman"/>
                <a:ea typeface="Times New Roman"/>
                <a:cs typeface="Times New Roman"/>
                <a:sym typeface="Times New Roman"/>
              </a:defRPr>
            </a:lvl1pPr>
          </a:lstStyle>
          <a:p>
            <a:pPr/>
            <a:r>
              <a:t>             Money Mitra is an intelligent, AI-powered financial assistance platform designed to support users in effective financial planning, expense tracking, and informed decision-making. The system integrates transaction management through manual entry, receipt scanning (OCR), and automatic notification-based capture, along with budgeting, goal-based savings, loan management, AI-driven loan eligibility prediction, and chit fund management into a unified application. Users can track income and expenses across multiple accounts such as bank, UPI, and cash, set monthly budgets, and automatically save surplus amounts toward financial goals. The platform also evaluates loan eligibility using machine learning models, providing risk analysis, approval predictions, and actionable recommendations with explainable insights. Additionally, it enables efficient chit fund tracking by managing members, contributions, and payouts. By combining automation, data-driven intelligence, and user-friendly guidance, Money Mitra bridges the gap between financial awareness and actionable planning, making it especially beneficial for students, salaried individuals, and first-time borrowers.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Google Shape;109;p17"/>
          <p:cNvSpPr txBox="1"/>
          <p:nvPr>
            <p:ph type="title"/>
          </p:nvPr>
        </p:nvSpPr>
        <p:spPr>
          <a:xfrm>
            <a:off x="571500" y="16883"/>
            <a:ext cx="10515600" cy="1320801"/>
          </a:xfrm>
          <a:prstGeom prst="rect">
            <a:avLst/>
          </a:prstGeom>
        </p:spPr>
        <p:txBody>
          <a:bodyPr/>
          <a:lstStyle>
            <a:lvl1pPr>
              <a:defRPr b="1" u="sng">
                <a:latin typeface="Times New Roman"/>
                <a:ea typeface="Times New Roman"/>
                <a:cs typeface="Times New Roman"/>
                <a:sym typeface="Times New Roman"/>
              </a:defRPr>
            </a:lvl1pPr>
          </a:lstStyle>
          <a:p>
            <a:pPr/>
            <a:r>
              <a:t>PROBLEM STATEMENT</a:t>
            </a:r>
          </a:p>
        </p:txBody>
      </p:sp>
      <p:sp>
        <p:nvSpPr>
          <p:cNvPr id="125" name="Text Placeholder 2"/>
          <p:cNvSpPr txBox="1"/>
          <p:nvPr>
            <p:ph type="body" idx="1"/>
          </p:nvPr>
        </p:nvSpPr>
        <p:spPr>
          <a:xfrm>
            <a:off x="571500" y="1005416"/>
            <a:ext cx="11049000" cy="5718031"/>
          </a:xfrm>
          <a:prstGeom prst="rect">
            <a:avLst/>
          </a:prstGeom>
        </p:spPr>
        <p:txBody>
          <a:bodyPr lIns="45719" tIns="45719" rIns="45719" bIns="45719"/>
          <a:lstStyle/>
          <a:p>
            <a:pPr marL="0" indent="0">
              <a:spcBef>
                <a:spcPts val="200"/>
              </a:spcBef>
              <a:buClrTx/>
              <a:buSzTx/>
              <a:buFontTx/>
              <a:buNone/>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b="1" sz="2838">
                <a:latin typeface="Times New Roman"/>
                <a:ea typeface="Times New Roman"/>
                <a:cs typeface="Times New Roman"/>
                <a:sym typeface="Times New Roman"/>
              </a:defRPr>
            </a:pPr>
            <a:r>
              <a:t>Introduction</a:t>
            </a:r>
          </a:p>
          <a:p>
            <a:pPr marL="0" indent="0" algn="just" defTabSz="393192">
              <a:lnSpc>
                <a:spcPct val="130000"/>
              </a:lnSpc>
              <a:spcBef>
                <a:spcPts val="200"/>
              </a:spcBef>
              <a:buClrTx/>
              <a:buSzTx/>
              <a:buFontTx/>
              <a:buNone/>
              <a:defRPr sz="1806">
                <a:latin typeface="Times Roman"/>
                <a:ea typeface="Times Roman"/>
                <a:cs typeface="Times Roman"/>
                <a:sym typeface="Times Roman"/>
              </a:defRPr>
            </a:pPr>
            <a:r>
              <a:t>             </a:t>
            </a:r>
            <a:r>
              <a:rPr sz="1978"/>
              <a:t>Managing personal finances is challenging due to rising expenses and limited financial awareness, while existing apps focus only on basic tracking and budgeting. Many users lack integrated tools for intelligent transaction tracking, goal planning, and loan evaluation. Money Mitra is an AI-powered platform that combines transaction management (manual, OCR, and auto notification capture), budgeting, goal-based savings, loan prediction, and chit fund management, enabling users to make informed financial decisions through automated insights.</a:t>
            </a:r>
          </a:p>
          <a:p>
            <a:pPr marL="0" indent="0" defTabSz="786384">
              <a:lnSpc>
                <a:spcPct val="120000"/>
              </a:lnSpc>
              <a:spcBef>
                <a:spcPts val="200"/>
              </a:spcBef>
              <a:buClrTx/>
              <a:buSzTx/>
              <a:buFontTx/>
              <a:buNone/>
              <a:defRPr b="1" sz="2838">
                <a:latin typeface="Times New Roman"/>
                <a:ea typeface="Times New Roman"/>
                <a:cs typeface="Times New Roman"/>
                <a:sym typeface="Times New Roman"/>
              </a:defRPr>
            </a:pPr>
            <a:r>
              <a:t>Existing System &amp; Limitations</a:t>
            </a:r>
          </a:p>
          <a:p>
            <a:pPr lvl="2" marL="0" indent="393192" defTabSz="393192">
              <a:lnSpc>
                <a:spcPct val="120000"/>
              </a:lnSpc>
              <a:spcBef>
                <a:spcPts val="200"/>
              </a:spcBef>
              <a:buClrTx/>
              <a:buSzTx/>
              <a:buFontTx/>
              <a:buNone/>
              <a:defRPr sz="1806">
                <a:latin typeface="Times Roman"/>
                <a:ea typeface="Times Roman"/>
                <a:cs typeface="Times Roman"/>
                <a:sym typeface="Times Roman"/>
              </a:defRPr>
            </a:pPr>
            <a:r>
              <a:t>• </a:t>
            </a:r>
            <a:r>
              <a:rPr sz="1978"/>
              <a:t>Focus only on expense tracking and basic budgeting</a:t>
            </a:r>
            <a:endParaRPr sz="1978"/>
          </a:p>
          <a:p>
            <a:pPr lvl="2" marL="0" indent="393192" defTabSz="393192">
              <a:lnSpc>
                <a:spcPct val="120000"/>
              </a:lnSpc>
              <a:spcBef>
                <a:spcPts val="200"/>
              </a:spcBef>
              <a:buClrTx/>
              <a:buSzTx/>
              <a:buFontTx/>
              <a:buNone/>
              <a:defRPr sz="1978">
                <a:latin typeface="Times Roman"/>
                <a:ea typeface="Times Roman"/>
                <a:cs typeface="Times Roman"/>
                <a:sym typeface="Times Roman"/>
              </a:defRPr>
            </a:pPr>
            <a:r>
              <a:t>• No AI-based loan eligibility prediction or risk analysis</a:t>
            </a:r>
          </a:p>
          <a:p>
            <a:pPr lvl="2" marL="0" indent="393192" defTabSz="393192">
              <a:lnSpc>
                <a:spcPct val="120000"/>
              </a:lnSpc>
              <a:spcBef>
                <a:spcPts val="200"/>
              </a:spcBef>
              <a:buClrTx/>
              <a:buSzTx/>
              <a:buFontTx/>
              <a:buNone/>
              <a:defRPr sz="1978">
                <a:latin typeface="Times Roman"/>
                <a:ea typeface="Times Roman"/>
                <a:cs typeface="Times Roman"/>
                <a:sym typeface="Times Roman"/>
              </a:defRPr>
            </a:pPr>
            <a:r>
              <a:t>• Lack of automated insights and financial recommendations</a:t>
            </a:r>
          </a:p>
          <a:p>
            <a:pPr lvl="2" marL="0" indent="393192" defTabSz="393192">
              <a:lnSpc>
                <a:spcPct val="120000"/>
              </a:lnSpc>
              <a:spcBef>
                <a:spcPts val="200"/>
              </a:spcBef>
              <a:buClrTx/>
              <a:buSzTx/>
              <a:buFontTx/>
              <a:buNone/>
              <a:defRPr sz="1978">
                <a:latin typeface="Times Roman"/>
                <a:ea typeface="Times Roman"/>
                <a:cs typeface="Times Roman"/>
                <a:sym typeface="Times Roman"/>
              </a:defRPr>
            </a:pPr>
            <a:r>
              <a:t>• No support for auto-reading notifications for transaction capture</a:t>
            </a:r>
          </a:p>
          <a:p>
            <a:pPr lvl="2" marL="0" indent="393192" defTabSz="393192">
              <a:lnSpc>
                <a:spcPct val="120000"/>
              </a:lnSpc>
              <a:spcBef>
                <a:spcPts val="200"/>
              </a:spcBef>
              <a:buClrTx/>
              <a:buSzTx/>
              <a:buFontTx/>
              <a:buNone/>
              <a:defRPr sz="1978">
                <a:latin typeface="Times Roman"/>
                <a:ea typeface="Times Roman"/>
                <a:cs typeface="Times Roman"/>
                <a:sym typeface="Times Roman"/>
              </a:defRPr>
            </a:pPr>
            <a:r>
              <a:t>• No support for goal-based savings with automation</a:t>
            </a:r>
          </a:p>
          <a:p>
            <a:pPr lvl="2" marL="0" indent="393192" defTabSz="393192">
              <a:lnSpc>
                <a:spcPct val="120000"/>
              </a:lnSpc>
              <a:spcBef>
                <a:spcPts val="200"/>
              </a:spcBef>
              <a:buClrTx/>
              <a:buSzTx/>
              <a:buFontTx/>
              <a:buNone/>
              <a:defRPr sz="1978">
                <a:latin typeface="Times Roman"/>
                <a:ea typeface="Times Roman"/>
                <a:cs typeface="Times Roman"/>
                <a:sym typeface="Times Roman"/>
              </a:defRPr>
            </a:pPr>
            <a:r>
              <a:t>• Absence of chit fund management features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Google Shape;121;p19"/>
          <p:cNvSpPr txBox="1"/>
          <p:nvPr/>
        </p:nvSpPr>
        <p:spPr>
          <a:xfrm>
            <a:off x="1524000" y="127000"/>
            <a:ext cx="9144000" cy="1320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90000"/>
              </a:lnSpc>
              <a:defRPr b="1" sz="2900">
                <a:latin typeface="Times New Roman"/>
                <a:ea typeface="Times New Roman"/>
                <a:cs typeface="Times New Roman"/>
                <a:sym typeface="Times New Roman"/>
              </a:defRPr>
            </a:lvl1pPr>
          </a:lstStyle>
          <a:p>
            <a:pPr/>
            <a:r>
              <a:t>Existing Approaches (Literature Survey) </a:t>
            </a:r>
          </a:p>
        </p:txBody>
      </p:sp>
      <p:graphicFrame>
        <p:nvGraphicFramePr>
          <p:cNvPr id="128" name="Google Shape;122;p19"/>
          <p:cNvGraphicFramePr/>
          <p:nvPr/>
        </p:nvGraphicFramePr>
        <p:xfrm>
          <a:off x="571500" y="889000"/>
          <a:ext cx="10490925" cy="57257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9166"/>
                <a:gridCol w="1979643"/>
                <a:gridCol w="1975106"/>
                <a:gridCol w="3376632"/>
                <a:gridCol w="2898452"/>
              </a:tblGrid>
              <a:tr h="450893">
                <a:tc>
                  <a:txBody>
                    <a:bodyPr/>
                    <a:lstStyle/>
                    <a:p>
                      <a:pPr algn="l">
                        <a:lnSpc>
                          <a:spcPct val="150000"/>
                        </a:lnSpc>
                        <a:defRPr sz="1800"/>
                      </a:pPr>
                      <a:r>
                        <a:rPr b="1" sz="1400">
                          <a:latin typeface="Times New Roman"/>
                          <a:ea typeface="Times New Roman"/>
                          <a:cs typeface="Times New Roman"/>
                          <a:sym typeface="Times New Roman"/>
                        </a:rPr>
                        <a:t>Ref. No.​</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b="1" sz="1400">
                          <a:latin typeface="Times New Roman"/>
                          <a:ea typeface="Times New Roman"/>
                          <a:cs typeface="Times New Roman"/>
                          <a:sym typeface="Times New Roman"/>
                        </a:rPr>
                        <a:t>Title of the Paper &amp; Year</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b="1" sz="1400">
                          <a:latin typeface="Times New Roman"/>
                          <a:ea typeface="Times New Roman"/>
                          <a:cs typeface="Times New Roman"/>
                          <a:sym typeface="Times New Roman"/>
                        </a:rPr>
                        <a:t>Authors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b="1" sz="1400">
                          <a:latin typeface="Times New Roman"/>
                          <a:ea typeface="Times New Roman"/>
                          <a:cs typeface="Times New Roman"/>
                          <a:sym typeface="Times New Roman"/>
                        </a:rPr>
                        <a:t>Methodology / Approach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b="1" sz="1400">
                          <a:latin typeface="Times New Roman"/>
                          <a:ea typeface="Times New Roman"/>
                          <a:cs typeface="Times New Roman"/>
                          <a:sym typeface="Times New Roman"/>
                        </a:rPr>
                        <a:t>Observed Gaps / Limitations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717272">
                <a:tc>
                  <a:txBody>
                    <a:bodyPr/>
                    <a:lstStyle/>
                    <a:p>
                      <a:pPr algn="l">
                        <a:lnSpc>
                          <a:spcPct val="150000"/>
                        </a:lnSpc>
                        <a:defRPr sz="1800"/>
                      </a:pPr>
                      <a:r>
                        <a:rPr b="1" sz="1400">
                          <a:latin typeface="Times New Roman"/>
                          <a:ea typeface="Times New Roman"/>
                          <a:cs typeface="Times New Roman"/>
                          <a:sym typeface="Times New Roman"/>
                        </a:rPr>
                        <a:t>[1]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600">
                          <a:latin typeface="Times New Roman"/>
                          <a:ea typeface="Times New Roman"/>
                          <a:cs typeface="Times New Roman"/>
                          <a:sym typeface="Times New Roman"/>
                        </a:rPr>
                        <a:t>Student Expense Tracking System Using OCR (2025)</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Ahmad Fad)li Saad, Muhammad Hairil Shaharudin, Achmad Yani, Abdi Manaf, Andi Almeira Zocha Ismail, Andi Regica Acacia Ismail</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Developed a web-based expense tracking system using Optical Character Recognition (OCR) to automatically extract expense details from scanned receipts. The system follows Website Development Life Cycle (WDLC), stores data in a database, provides budget setting, expense categorization, and visual analytics (charts &amp; graphs). Usability was evaluated using PSSUQ with 30 students.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400">
                          <a:latin typeface="Times Roman"/>
                          <a:ea typeface="Times Roman"/>
                          <a:cs typeface="Times Roman"/>
                          <a:sym typeface="Times Roman"/>
                        </a:defRPr>
                      </a:pPr>
                      <a:r>
                        <a:t>The existing system focuses mainly on basic expense tracking and lacks key features such as auto-read notification-based transaction capture, AI-driven forecasting, goal-based savings automation, loan prediction, and chit fund management, limiting effective financial planning.</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165834">
                <a:tc>
                  <a:txBody>
                    <a:bodyPr/>
                    <a:lstStyle/>
                    <a:p>
                      <a:pPr algn="l">
                        <a:lnSpc>
                          <a:spcPct val="150000"/>
                        </a:lnSpc>
                        <a:defRPr sz="1800"/>
                      </a:pPr>
                      <a:r>
                        <a:rPr b="1" sz="1500">
                          <a:latin typeface="Times New Roman"/>
                          <a:ea typeface="Times New Roman"/>
                          <a:cs typeface="Times New Roman"/>
                          <a:sym typeface="Times New Roman"/>
                        </a:rPr>
                        <a:t>[2]​</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AI-Powered Personal Finance Assistant For Intelligent Expense Tracking And Budget Optimization (2025)</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Dr. A.K. Ashfauk Ahamed1, S K S Ahamed Shahif2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An AI-based approach combining OCR, SMS parsing, machine learning, and an NLP chatbot is used to automate expense tracking and budget optimization through a React Native frontend and Firebase backend.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400">
                          <a:latin typeface="Times Roman"/>
                          <a:ea typeface="Times Roman"/>
                          <a:cs typeface="Times Roman"/>
                          <a:sym typeface="Times Roman"/>
                        </a:defRPr>
                      </a:pPr>
                      <a:r>
                        <a:t>The system mainly focuses on expense tracking and budgeting and lacks support for goal-based planning, time-bound savings estimation, AI-driven loan eligibility prediction, loan recommendations, and document-related assistance, limiting effective financial planning.</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Google Shape;127;p20"/>
          <p:cNvSpPr txBox="1"/>
          <p:nvPr/>
        </p:nvSpPr>
        <p:spPr>
          <a:xfrm>
            <a:off x="1524000" y="127000"/>
            <a:ext cx="9144000" cy="1320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90000"/>
              </a:lnSpc>
              <a:defRPr b="1" sz="2900">
                <a:latin typeface="Times New Roman"/>
                <a:ea typeface="Times New Roman"/>
                <a:cs typeface="Times New Roman"/>
                <a:sym typeface="Times New Roman"/>
              </a:defRPr>
            </a:lvl1pPr>
          </a:lstStyle>
          <a:p>
            <a:pPr/>
            <a:r>
              <a:t>Existing Approaches (Literature Survey) </a:t>
            </a:r>
          </a:p>
        </p:txBody>
      </p:sp>
      <p:graphicFrame>
        <p:nvGraphicFramePr>
          <p:cNvPr id="131" name="Google Shape;128;p20"/>
          <p:cNvGraphicFramePr/>
          <p:nvPr/>
        </p:nvGraphicFramePr>
        <p:xfrm>
          <a:off x="571500" y="889000"/>
          <a:ext cx="10870095" cy="5466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22757"/>
                <a:gridCol w="1974615"/>
                <a:gridCol w="1980524"/>
                <a:gridCol w="3369894"/>
                <a:gridCol w="2901208"/>
              </a:tblGrid>
              <a:tr h="452665">
                <a:tc>
                  <a:txBody>
                    <a:bodyPr/>
                    <a:lstStyle/>
                    <a:p>
                      <a:pPr algn="ctr">
                        <a:lnSpc>
                          <a:spcPct val="150000"/>
                        </a:lnSpc>
                        <a:defRPr sz="1800"/>
                      </a:pPr>
                      <a:r>
                        <a:rPr b="1" sz="1400">
                          <a:latin typeface="Times New Roman"/>
                          <a:ea typeface="Times New Roman"/>
                          <a:cs typeface="Times New Roman"/>
                          <a:sym typeface="Times New Roman"/>
                        </a:rPr>
                        <a:t>Ref. No.​</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Title of the Paper &amp; Year</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Authors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Methodology / Approach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Observed Gaps / Limitations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305247">
                <a:tc>
                  <a:txBody>
                    <a:bodyPr/>
                    <a:lstStyle/>
                    <a:p>
                      <a:pPr algn="ctr">
                        <a:lnSpc>
                          <a:spcPct val="150000"/>
                        </a:lnSpc>
                        <a:defRPr sz="1800"/>
                      </a:pPr>
                      <a:r>
                        <a:rPr b="1" sz="1400">
                          <a:latin typeface="Times New Roman"/>
                          <a:ea typeface="Times New Roman"/>
                          <a:cs typeface="Times New Roman"/>
                          <a:sym typeface="Times New Roman"/>
                        </a:rPr>
                        <a:t>[3]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600">
                          <a:latin typeface="Times New Roman"/>
                          <a:ea typeface="Times New Roman"/>
                          <a:cs typeface="Times New Roman"/>
                          <a:sym typeface="Times New Roman"/>
                        </a:rPr>
                        <a:t>Review Paper on Money Manager(2025)</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Y. D. Nagvekar, Bhosale Maithili Mangesh, Bogati Jayanti Suresh, Chaudhary Pranjal Subhash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The system provides a simple money management solution where users can record income and expenses, categorize transactions, set monthly budgets, track savings goals, and analyze spending using basic visual reports.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10000"/>
                        </a:lnSpc>
                        <a:spcBef>
                          <a:spcPts val="1200"/>
                        </a:spcBef>
                        <a:defRPr sz="1400">
                          <a:latin typeface="Times Roman"/>
                          <a:ea typeface="Times Roman"/>
                          <a:cs typeface="Times Roman"/>
                          <a:sym typeface="Times Roman"/>
                        </a:defRPr>
                      </a:pPr>
                      <a:r>
                        <a:t>The system supports only basic financial tracking and budgeting and lacks intelligent features such as AI-based loan eligibility prediction, personalized recommendations, document guidance and verification, time-based goal planning,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576086">
                <a:tc>
                  <a:txBody>
                    <a:bodyPr/>
                    <a:lstStyle/>
                    <a:p>
                      <a:pPr algn="ctr">
                        <a:lnSpc>
                          <a:spcPct val="150000"/>
                        </a:lnSpc>
                        <a:defRPr sz="1800"/>
                      </a:pPr>
                      <a:r>
                        <a:rPr b="1" sz="1500">
                          <a:latin typeface="Times New Roman"/>
                          <a:ea typeface="Times New Roman"/>
                          <a:cs typeface="Times New Roman"/>
                          <a:sym typeface="Times New Roman"/>
                        </a:rPr>
                        <a:t>[4]​</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Smart Expense Tracking System Using Machine Learning (2023)</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S. Aishwarya, S. Hemalatha</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An automated expense tracking system using machine learning models to collect data from bank transactions, credit cards, and user inputs. The system preprocesses data, categorizes expenses, predicts future spending, and presents insights through visual analytics, achieving higher accuracy than manual methods.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400">
                          <a:latin typeface="Times Roman"/>
                          <a:ea typeface="Times Roman"/>
                          <a:cs typeface="Times Roman"/>
                          <a:sym typeface="Times Roman"/>
                        </a:defRPr>
                      </a:pPr>
                      <a:r>
                        <a:t>The system focuses mainly on expense prediction and categorization and lacks OCR-based receipt scanning, auto-read notification-based transaction capture, goal-based time estimation, and long-term financial planning. It does not support Indian financial practices like chit funds and relies heavily on high-quality transaction data.</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Google Shape;133;p21"/>
          <p:cNvSpPr txBox="1"/>
          <p:nvPr/>
        </p:nvSpPr>
        <p:spPr>
          <a:xfrm>
            <a:off x="1524000" y="127000"/>
            <a:ext cx="9144000" cy="1320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90000"/>
              </a:lnSpc>
              <a:defRPr b="1" sz="2900">
                <a:latin typeface="Times New Roman"/>
                <a:ea typeface="Times New Roman"/>
                <a:cs typeface="Times New Roman"/>
                <a:sym typeface="Times New Roman"/>
              </a:defRPr>
            </a:lvl1pPr>
          </a:lstStyle>
          <a:p>
            <a:pPr/>
            <a:r>
              <a:t>Existing Approaches (Literature Survey) </a:t>
            </a:r>
          </a:p>
        </p:txBody>
      </p:sp>
      <p:graphicFrame>
        <p:nvGraphicFramePr>
          <p:cNvPr id="134" name="Google Shape;134;p21"/>
          <p:cNvGraphicFramePr/>
          <p:nvPr/>
        </p:nvGraphicFramePr>
        <p:xfrm>
          <a:off x="571500" y="889000"/>
          <a:ext cx="10490925" cy="5453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4348"/>
                <a:gridCol w="1978759"/>
                <a:gridCol w="1978952"/>
                <a:gridCol w="3366689"/>
                <a:gridCol w="2910249"/>
              </a:tblGrid>
              <a:tr h="449874">
                <a:tc>
                  <a:txBody>
                    <a:bodyPr/>
                    <a:lstStyle/>
                    <a:p>
                      <a:pPr algn="ctr">
                        <a:lnSpc>
                          <a:spcPct val="150000"/>
                        </a:lnSpc>
                        <a:defRPr sz="1800"/>
                      </a:pPr>
                      <a:r>
                        <a:rPr b="1" sz="1400">
                          <a:latin typeface="Times New Roman"/>
                          <a:ea typeface="Times New Roman"/>
                          <a:cs typeface="Times New Roman"/>
                          <a:sym typeface="Times New Roman"/>
                        </a:rPr>
                        <a:t>Ref. No.​</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Title of the Paper &amp; Year</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Authors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Methodology / Approach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Observed Gaps / Limitations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291072">
                <a:tc>
                  <a:txBody>
                    <a:bodyPr/>
                    <a:lstStyle/>
                    <a:p>
                      <a:pPr algn="ctr">
                        <a:lnSpc>
                          <a:spcPct val="150000"/>
                        </a:lnSpc>
                        <a:defRPr sz="1800"/>
                      </a:pPr>
                      <a:r>
                        <a:rPr b="1" sz="1400">
                          <a:latin typeface="Times New Roman"/>
                          <a:ea typeface="Times New Roman"/>
                          <a:cs typeface="Times New Roman"/>
                          <a:sym typeface="Times New Roman"/>
                        </a:rPr>
                        <a:t>[5]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Automated Expense Classifier from Bank Statements (2025)</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Visalatchi A, Yuvaraj J, Giri Prasanna K</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The system is designed as a simple money management application that allows users to record income and expenses, categorize transactions, set monthly budgets, track savings goals, and analyze spending through basic visual reports using a mobile-based interface..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800"/>
                      </a:pPr>
                      <a:r>
                        <a:rPr sz="1400">
                          <a:latin typeface="Times Roman"/>
                          <a:ea typeface="Times Roman"/>
                          <a:cs typeface="Times Roman"/>
                          <a:sym typeface="Times Roman"/>
                        </a:rPr>
                        <a:t>The system mainly supports basic tracking and budgeting and lacks advanced intelligence such as AI-based loan eligibility prediction, personalized recommendations, document handling and verification, time-based goal planning,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576086">
                <a:tc>
                  <a:txBody>
                    <a:bodyPr/>
                    <a:lstStyle/>
                    <a:p>
                      <a:pPr algn="ctr">
                        <a:lnSpc>
                          <a:spcPct val="150000"/>
                        </a:lnSpc>
                        <a:defRPr sz="1800"/>
                      </a:pPr>
                      <a:r>
                        <a:rPr b="1" sz="1500">
                          <a:latin typeface="Times New Roman"/>
                          <a:ea typeface="Times New Roman"/>
                          <a:cs typeface="Times New Roman"/>
                          <a:sym typeface="Times New Roman"/>
                        </a:rPr>
                        <a:t>[6]​</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EXPENSE TRACKER - AN EXPENSE TRACKING APPLICATION USING OCR AND RANDOM FOREST ALGORITHM(2025)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J Mohan1, Daya Santosh Tonape2, Dasireddy Bhargav3, Gayam Vinay Reddy4 and Katakam Akshay5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The system uses OCR to extract data from receipts and applies machine learning algorithms such as Random Forest to automatically categorize expenses. Users can also manually enter transactions, set budgets, track spending patterns, and receive alerts for overspending through a web-based interface.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800"/>
                      </a:pPr>
                      <a:r>
                        <a:rPr sz="1400">
                          <a:latin typeface="Times Roman"/>
                          <a:ea typeface="Times Roman"/>
                          <a:cs typeface="Times Roman"/>
                          <a:sym typeface="Times Roman"/>
                        </a:rPr>
                        <a:t>The system is limited to expense tracking and budgeting and lacks features such as AI-based loan eligibility analysis, personalized loan recommendations, document guidance and verification, time-based goal planning,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36" name="Google Shape;134;p21"/>
          <p:cNvGraphicFramePr/>
          <p:nvPr/>
        </p:nvGraphicFramePr>
        <p:xfrm>
          <a:off x="571500" y="889000"/>
          <a:ext cx="10490925" cy="5453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6462"/>
                <a:gridCol w="1976645"/>
                <a:gridCol w="1968641"/>
                <a:gridCol w="3373391"/>
                <a:gridCol w="2913859"/>
              </a:tblGrid>
              <a:tr h="454791">
                <a:tc>
                  <a:txBody>
                    <a:bodyPr/>
                    <a:lstStyle/>
                    <a:p>
                      <a:pPr algn="ctr">
                        <a:lnSpc>
                          <a:spcPct val="150000"/>
                        </a:lnSpc>
                        <a:defRPr sz="1800"/>
                      </a:pPr>
                      <a:r>
                        <a:rPr b="1" sz="1400">
                          <a:latin typeface="Times New Roman"/>
                          <a:ea typeface="Times New Roman"/>
                          <a:cs typeface="Times New Roman"/>
                          <a:sym typeface="Times New Roman"/>
                        </a:rPr>
                        <a:t>Ref. No.​</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Title of the Paper &amp; Year</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Authors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Methodology / Approach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Observed Gaps / Limitations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291072">
                <a:tc>
                  <a:txBody>
                    <a:bodyPr/>
                    <a:lstStyle/>
                    <a:p>
                      <a:pPr algn="ctr">
                        <a:lnSpc>
                          <a:spcPct val="150000"/>
                        </a:lnSpc>
                        <a:defRPr sz="1800"/>
                      </a:pPr>
                      <a:r>
                        <a:rPr b="1" sz="1400">
                          <a:latin typeface="Times New Roman"/>
                          <a:ea typeface="Times New Roman"/>
                          <a:cs typeface="Times New Roman"/>
                          <a:sym typeface="Times New Roman"/>
                        </a:rPr>
                        <a:t>[7]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AI Based Personal Finance Management System (2025)</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Manasa S, S.K. Shivashankar, P. Prasanna, H.P. Mohan Kumar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 web-based finance system using Flask and MySQL that tracks income and expenses, forecasts future spending using machine learning, and sends bill alerts through automated email notifications.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800"/>
                      </a:pPr>
                      <a:r>
                        <a:rPr sz="1400">
                          <a:latin typeface="Times Roman"/>
                          <a:ea typeface="Times Roman"/>
                          <a:cs typeface="Times Roman"/>
                          <a:sym typeface="Times Roman"/>
                        </a:rPr>
                        <a:t>The system lacks support for AI-based loan eligibility checking, personalized loan recommendations, document handling and verification, time-based goal planning,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576086">
                <a:tc>
                  <a:txBody>
                    <a:bodyPr/>
                    <a:lstStyle/>
                    <a:p>
                      <a:pPr algn="ctr">
                        <a:lnSpc>
                          <a:spcPct val="150000"/>
                        </a:lnSpc>
                        <a:defRPr sz="1800"/>
                      </a:pPr>
                      <a:r>
                        <a:rPr b="1" sz="1500">
                          <a:latin typeface="Times New Roman"/>
                          <a:ea typeface="Times New Roman"/>
                          <a:cs typeface="Times New Roman"/>
                          <a:sym typeface="Times New Roman"/>
                        </a:rPr>
                        <a:t>[8]​</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Receipt Image Extraction in Budgeting Mobile Application (2024)</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WONG ROU YI &amp; TAN PING PING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 budgeting mobile application is developed using computer vision techniques where users scan receipts and transaction details are extracted using OCR (Azure Form Recognizer). The system supports manual entry, monthly expense summaries, and visual reports, following a Rapid Application Development (RAD) approach.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800"/>
                      </a:pPr>
                      <a:r>
                        <a:rPr sz="1400">
                          <a:latin typeface="Times Roman"/>
                          <a:ea typeface="Times Roman"/>
                          <a:cs typeface="Times Roman"/>
                          <a:sym typeface="Times Roman"/>
                        </a:rPr>
                        <a:t>The system is limited to receipt-based expense tracking and budgeting and lacks features such as auto-read notification-based transaction capture, chit fund management, AI-based loan eligibility analysis, personalized loan recommendations, document verification, and time-based goal planning.</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
        <p:nvSpPr>
          <p:cNvPr id="137" name="Google Shape;133;p21"/>
          <p:cNvSpPr txBox="1"/>
          <p:nvPr/>
        </p:nvSpPr>
        <p:spPr>
          <a:xfrm>
            <a:off x="1524000" y="127000"/>
            <a:ext cx="9144000" cy="1320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90000"/>
              </a:lnSpc>
              <a:defRPr b="1" sz="2900">
                <a:latin typeface="Times New Roman"/>
                <a:ea typeface="Times New Roman"/>
                <a:cs typeface="Times New Roman"/>
                <a:sym typeface="Times New Roman"/>
              </a:defRPr>
            </a:lvl1pPr>
          </a:lstStyle>
          <a:p>
            <a:pPr/>
            <a:r>
              <a:t>Existing Approaches (Literature Survey)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39" name="Google Shape;134;p21"/>
          <p:cNvGraphicFramePr/>
          <p:nvPr/>
        </p:nvGraphicFramePr>
        <p:xfrm>
          <a:off x="571500" y="889000"/>
          <a:ext cx="10490925" cy="5453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6462"/>
                <a:gridCol w="1976645"/>
                <a:gridCol w="1968641"/>
                <a:gridCol w="3369316"/>
                <a:gridCol w="2917934"/>
              </a:tblGrid>
              <a:tr h="456494">
                <a:tc>
                  <a:txBody>
                    <a:bodyPr/>
                    <a:lstStyle/>
                    <a:p>
                      <a:pPr algn="ctr">
                        <a:lnSpc>
                          <a:spcPct val="150000"/>
                        </a:lnSpc>
                        <a:defRPr sz="1800"/>
                      </a:pPr>
                      <a:r>
                        <a:rPr b="1" sz="1400">
                          <a:latin typeface="Times New Roman"/>
                          <a:ea typeface="Times New Roman"/>
                          <a:cs typeface="Times New Roman"/>
                          <a:sym typeface="Times New Roman"/>
                        </a:rPr>
                        <a:t>Ref. No.​</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Title of the Paper &amp; Year</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Authors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Methodology / Approach</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a:lnSpc>
                          <a:spcPct val="150000"/>
                        </a:lnSpc>
                        <a:defRPr sz="1800"/>
                      </a:pPr>
                      <a:r>
                        <a:rPr b="1" sz="1400">
                          <a:latin typeface="Times New Roman"/>
                          <a:ea typeface="Times New Roman"/>
                          <a:cs typeface="Times New Roman"/>
                          <a:sym typeface="Times New Roman"/>
                        </a:rPr>
                        <a:t>Observed Gaps / Limitations</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433876">
                <a:tc>
                  <a:txBody>
                    <a:bodyPr/>
                    <a:lstStyle/>
                    <a:p>
                      <a:pPr algn="ctr">
                        <a:lnSpc>
                          <a:spcPct val="150000"/>
                        </a:lnSpc>
                        <a:defRPr sz="1800"/>
                      </a:pPr>
                      <a:r>
                        <a:rPr b="1" sz="1400">
                          <a:latin typeface="Times New Roman"/>
                          <a:ea typeface="Times New Roman"/>
                          <a:cs typeface="Times New Roman"/>
                          <a:sym typeface="Times New Roman"/>
                        </a:rPr>
                        <a:t>[9] ​</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spcBef>
                          <a:spcPts val="1400"/>
                        </a:spcBef>
                        <a:defRPr sz="1800"/>
                      </a:pPr>
                      <a:r>
                        <a:rPr sz="1400">
                          <a:latin typeface="Times Roman"/>
                          <a:ea typeface="Times Roman"/>
                          <a:cs typeface="Times Roman"/>
                          <a:sym typeface="Times Roman"/>
                        </a:rPr>
                        <a:t>Personal Financial Management Using AI Techniques (2020)</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A. Sharma, R. Verma</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The paper proposes an AI-based personal finance system that uses machine learning algorithms to analyze user income and expenses. It focuses on automated categorization, budget suggestions, and spending pattern analysis using historical financial data.</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30000"/>
                        </a:lnSpc>
                        <a:spcBef>
                          <a:spcPts val="1200"/>
                        </a:spcBef>
                        <a:defRPr sz="1800"/>
                      </a:pPr>
                      <a:r>
                        <a:rPr sz="1400">
                          <a:latin typeface="Times Roman"/>
                          <a:ea typeface="Times Roman"/>
                          <a:cs typeface="Times Roman"/>
                          <a:sym typeface="Times Roman"/>
                        </a:rPr>
                        <a:t>The system lacks support for AI-based loan eligibility assessment, personalized loan recommendations, document verification, chit fund management, time-based goal planning,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2455191">
                <a:tc>
                  <a:txBody>
                    <a:bodyPr/>
                    <a:lstStyle/>
                    <a:p>
                      <a:pPr algn="ctr">
                        <a:lnSpc>
                          <a:spcPct val="150000"/>
                        </a:lnSpc>
                        <a:defRPr sz="1800"/>
                      </a:pPr>
                      <a:r>
                        <a:rPr b="1" sz="1500">
                          <a:latin typeface="Times New Roman"/>
                          <a:ea typeface="Times New Roman"/>
                          <a:cs typeface="Times New Roman"/>
                          <a:sym typeface="Times New Roman"/>
                        </a:rPr>
                        <a:t>[10]​</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Predicting Personal Expenses Using Machine Learning (2021)</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S. Patel, K. Mehta</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a:lnSpc>
                          <a:spcPct val="150000"/>
                        </a:lnSpc>
                        <a:defRPr sz="1800"/>
                      </a:pPr>
                      <a:r>
                        <a:rPr sz="1400">
                          <a:latin typeface="Times New Roman"/>
                          <a:ea typeface="Times New Roman"/>
                          <a:cs typeface="Times New Roman"/>
                          <a:sym typeface="Times New Roman"/>
                        </a:rPr>
                        <a:t>This study applies regression-based machine learning models to predict future personal expenses based on past spending behavior. The focus is on forecasting and trend analysis to improve budgeting accuracy.</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l" defTabSz="457200">
                        <a:lnSpc>
                          <a:spcPct val="120000"/>
                        </a:lnSpc>
                        <a:spcBef>
                          <a:spcPts val="1200"/>
                        </a:spcBef>
                        <a:defRPr sz="1800"/>
                      </a:pPr>
                      <a:r>
                        <a:rPr sz="1400">
                          <a:latin typeface="Times Roman"/>
                          <a:ea typeface="Times Roman"/>
                          <a:cs typeface="Times Roman"/>
                          <a:sym typeface="Times Roman"/>
                        </a:rPr>
                        <a:t>The approach is limited to expense prediction and lacks actionable financial guidance such as AI-based loan eligibility analysis, goal-based planning, document handling, and auto-read notification-based transaction capture.</a:t>
                      </a:r>
                    </a:p>
                  </a:txBody>
                  <a:tcPr marL="16550" marR="16550" marT="16550" marB="1655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
        <p:nvSpPr>
          <p:cNvPr id="140" name="Google Shape;133;p21"/>
          <p:cNvSpPr txBox="1"/>
          <p:nvPr/>
        </p:nvSpPr>
        <p:spPr>
          <a:xfrm>
            <a:off x="1524000" y="127000"/>
            <a:ext cx="9144000" cy="1320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90000"/>
              </a:lnSpc>
              <a:defRPr b="1" sz="2900">
                <a:latin typeface="Times New Roman"/>
                <a:ea typeface="Times New Roman"/>
                <a:cs typeface="Times New Roman"/>
                <a:sym typeface="Times New Roman"/>
              </a:defRPr>
            </a:lvl1pPr>
          </a:lstStyle>
          <a:p>
            <a:pPr/>
            <a:r>
              <a:t>Existing Approaches (Literature Survey)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Proposed Syste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Proposed System</a:t>
            </a:r>
          </a:p>
        </p:txBody>
      </p:sp>
      <p:sp>
        <p:nvSpPr>
          <p:cNvPr id="143" name="The proposed system Money Mitra is an AI-powered mobile application that provides a centralized platform for managing personal finances efficiently.…"/>
          <p:cNvSpPr txBox="1"/>
          <p:nvPr>
            <p:ph type="body" idx="4294967295"/>
          </p:nvPr>
        </p:nvSpPr>
        <p:spPr>
          <a:xfrm>
            <a:off x="571500" y="1005416"/>
            <a:ext cx="11049000" cy="5718031"/>
          </a:xfrm>
          <a:prstGeom prst="rect">
            <a:avLst/>
          </a:prstGeom>
        </p:spPr>
        <p:txBody>
          <a:bodyPr lIns="45719" tIns="45719" rIns="45719" bIns="45719"/>
          <a:lstStyle/>
          <a:p>
            <a:pPr marL="0" indent="0" algn="just" defTabSz="457200">
              <a:lnSpc>
                <a:spcPct val="110000"/>
              </a:lnSpc>
              <a:spcBef>
                <a:spcPts val="1200"/>
              </a:spcBef>
              <a:buClrTx/>
              <a:buSzTx/>
              <a:buFontTx/>
              <a:buNone/>
              <a:defRPr sz="2500">
                <a:latin typeface="Times New Roman"/>
                <a:ea typeface="Times New Roman"/>
                <a:cs typeface="Times New Roman"/>
                <a:sym typeface="Times New Roman"/>
              </a:defRPr>
            </a:pPr>
            <a:r>
              <a:t>             The proposed system </a:t>
            </a:r>
            <a:r>
              <a:rPr b="1"/>
              <a:t>Money Mitra</a:t>
            </a:r>
            <a:r>
              <a:t> is an AI-powered mobile application that provides a centralized platform for managing personal finances efficiently.</a:t>
            </a:r>
          </a:p>
          <a:p>
            <a:pPr marL="0" indent="0" algn="just" defTabSz="457200">
              <a:lnSpc>
                <a:spcPct val="110000"/>
              </a:lnSpc>
              <a:spcBef>
                <a:spcPts val="1500"/>
              </a:spcBef>
              <a:buClrTx/>
              <a:buSzTx/>
              <a:buFontTx/>
              <a:buNone/>
              <a:defRPr sz="2500">
                <a:latin typeface="Times New Roman"/>
                <a:ea typeface="Times New Roman"/>
                <a:cs typeface="Times New Roman"/>
                <a:sym typeface="Times New Roman"/>
              </a:defRPr>
            </a:pPr>
            <a:r>
              <a:t>• </a:t>
            </a:r>
            <a:r>
              <a:rPr b="1"/>
              <a:t>Unified Platform:</a:t>
            </a:r>
            <a:r>
              <a:t> Integrates transactions, budgeting, goals, loans, and chit fund management in one system.</a:t>
            </a:r>
            <a:br/>
            <a:r>
              <a:t>• </a:t>
            </a:r>
            <a:r>
              <a:rPr b="1"/>
              <a:t>Smart Transactions:</a:t>
            </a:r>
            <a:r>
              <a:t> Supports manual entry, OCR-based receipt scanning, and auto-read notification capture.</a:t>
            </a:r>
            <a:br/>
            <a:r>
              <a:t>• </a:t>
            </a:r>
            <a:r>
              <a:rPr b="1"/>
              <a:t>Budget &amp; Goals:</a:t>
            </a:r>
            <a:r>
              <a:t> Enables budget tracking and goal-based savings with automated insights.</a:t>
            </a:r>
            <a:br/>
            <a:r>
              <a:t>• </a:t>
            </a:r>
            <a:r>
              <a:rPr b="1"/>
              <a:t>AI Loan Prediction:</a:t>
            </a:r>
            <a:r>
              <a:t> Provides loan eligibility analysis and personalized recommendations.</a:t>
            </a:r>
            <a:br/>
            <a:r>
              <a:t>• </a:t>
            </a:r>
            <a:r>
              <a:rPr b="1"/>
              <a:t>Chit Fund Management:</a:t>
            </a:r>
            <a:r>
              <a:t> Manages members, collections, and payouts efficiently.</a:t>
            </a:r>
            <a:br/>
            <a:r>
              <a:t>• </a:t>
            </a:r>
            <a:r>
              <a:rPr b="1"/>
              <a:t>Multi-Account Support:</a:t>
            </a:r>
            <a:r>
              <a:t> Tracks finances across bank, UPI, and cash accounts.</a:t>
            </a:r>
            <a:br/>
            <a:r>
              <a:t>• </a:t>
            </a:r>
            <a:r>
              <a:rPr b="1"/>
              <a:t>Real-time Insights:</a:t>
            </a:r>
            <a:r>
              <a:t> Delivers notifications and data-driven financial guidance.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Requirements"/>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Requirements</a:t>
            </a:r>
          </a:p>
        </p:txBody>
      </p:sp>
      <p:sp>
        <p:nvSpPr>
          <p:cNvPr id="146" name="Software Requirements…"/>
          <p:cNvSpPr txBox="1"/>
          <p:nvPr>
            <p:ph type="body" idx="4294967295"/>
          </p:nvPr>
        </p:nvSpPr>
        <p:spPr>
          <a:xfrm>
            <a:off x="571500" y="1005416"/>
            <a:ext cx="11049000" cy="5718031"/>
          </a:xfrm>
          <a:prstGeom prst="rect">
            <a:avLst/>
          </a:prstGeom>
        </p:spPr>
        <p:txBody>
          <a:bodyPr lIns="45719" tIns="45719" rIns="45719" bIns="45719"/>
          <a:lstStyle/>
          <a:p>
            <a:pPr marL="0" indent="0" defTabSz="429768">
              <a:lnSpc>
                <a:spcPct val="100000"/>
              </a:lnSpc>
              <a:spcBef>
                <a:spcPts val="1900"/>
              </a:spcBef>
              <a:buClrTx/>
              <a:buSzTx/>
              <a:buFontTx/>
              <a:buNone/>
              <a:defRPr sz="2444">
                <a:latin typeface="Times New Roman"/>
                <a:ea typeface="Times New Roman"/>
                <a:cs typeface="Times New Roman"/>
                <a:sym typeface="Times New Roman"/>
              </a:defRPr>
            </a:pPr>
            <a:r>
              <a:rPr b="1"/>
              <a:t>Software Requirements</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Operating System:</a:t>
            </a:r>
            <a:r>
              <a:t> Windows 10/11 or macOS for development environment.</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Frontend:</a:t>
            </a:r>
            <a:r>
              <a:t> Android (Kotlin with Jetpack Compose) with Java interoperability </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Backend Services:</a:t>
            </a:r>
            <a:r>
              <a:t> Firebase (Authentication, Firestore Database).</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Backend:</a:t>
            </a:r>
            <a:r>
              <a:t> Python (FastAPI) with XGBoost, Scikit-learn, and SHAP for loan prediction.</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OCR &amp; Notifications:</a:t>
            </a:r>
            <a:r>
              <a:t> Tesseract (OCR), and Android Notification Listener Service.</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APIs:</a:t>
            </a:r>
            <a:r>
              <a:t> Google Gmail API, Google Generative AI API</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Tools:</a:t>
            </a:r>
            <a:r>
              <a:t> Android Studio, VS Code, GitHub for version control, Postman.</a:t>
            </a:r>
          </a:p>
          <a:p>
            <a:pPr marL="0" indent="0" defTabSz="429768">
              <a:lnSpc>
                <a:spcPct val="100000"/>
              </a:lnSpc>
              <a:spcBef>
                <a:spcPts val="1900"/>
              </a:spcBef>
              <a:buClrTx/>
              <a:buSzTx/>
              <a:buFontTx/>
              <a:buNone/>
              <a:defRPr sz="2444">
                <a:latin typeface="Times New Roman"/>
                <a:ea typeface="Times New Roman"/>
                <a:cs typeface="Times New Roman"/>
                <a:sym typeface="Times New Roman"/>
              </a:defRPr>
            </a:pPr>
            <a:r>
              <a:rPr b="1"/>
              <a:t>Hardware Requirements</a:t>
            </a:r>
            <a:endParaRPr b="1"/>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Processor:</a:t>
            </a:r>
            <a:r>
              <a:t> Intel i5 (11th Gen) / AMD Ryzen 5 / Apple M1 or higher</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RAM:</a:t>
            </a:r>
            <a:r>
              <a:t> 8GB Minimum (16GB recommended for emulator and backend services).</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Storage:</a:t>
            </a:r>
            <a:r>
              <a:t> 256GB SSD for faster build and SDK performance.</a:t>
            </a:r>
          </a:p>
          <a:p>
            <a:pPr lvl="1" marL="574908" indent="-216768" defTabSz="429768">
              <a:lnSpc>
                <a:spcPct val="80000"/>
              </a:lnSpc>
              <a:spcBef>
                <a:spcPts val="1100"/>
              </a:spcBef>
              <a:buClrTx/>
              <a:buSzPct val="100000"/>
              <a:buFontTx/>
              <a:defRPr sz="2162">
                <a:latin typeface="Times New Roman"/>
                <a:ea typeface="Times New Roman"/>
                <a:cs typeface="Times New Roman"/>
                <a:sym typeface="Times New Roman"/>
              </a:defRPr>
            </a:pPr>
            <a:r>
              <a:rPr b="1"/>
              <a:t>Testing Device:</a:t>
            </a:r>
            <a:r>
              <a:t> Android smartphone for real-time testing (notifications &amp; OCR).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Methodology"/>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Methodology</a:t>
            </a:r>
          </a:p>
        </p:txBody>
      </p:sp>
      <p:sp>
        <p:nvSpPr>
          <p:cNvPr id="149" name="The development of Money Mitra follows a modular approach to enable efficient financial management through automation and AI.…"/>
          <p:cNvSpPr txBox="1"/>
          <p:nvPr>
            <p:ph type="body" idx="4294967295"/>
          </p:nvPr>
        </p:nvSpPr>
        <p:spPr>
          <a:xfrm>
            <a:off x="571500" y="1005416"/>
            <a:ext cx="11049000" cy="5718031"/>
          </a:xfrm>
          <a:prstGeom prst="rect">
            <a:avLst/>
          </a:prstGeom>
        </p:spPr>
        <p:txBody>
          <a:bodyPr lIns="45719" tIns="45719" rIns="45719" bIns="45719"/>
          <a:lstStyle/>
          <a:p>
            <a:pPr marL="0" indent="0" algn="just" defTabSz="457200">
              <a:lnSpc>
                <a:spcPct val="150000"/>
              </a:lnSpc>
              <a:spcBef>
                <a:spcPts val="1200"/>
              </a:spcBef>
              <a:buClrTx/>
              <a:buSzTx/>
              <a:buFontTx/>
              <a:buNone/>
              <a:defRPr sz="2400">
                <a:latin typeface="Times New Roman"/>
                <a:ea typeface="Times New Roman"/>
                <a:cs typeface="Times New Roman"/>
                <a:sym typeface="Times New Roman"/>
              </a:defRPr>
            </a:pPr>
            <a:r>
              <a:t>            The development of </a:t>
            </a:r>
            <a:r>
              <a:rPr b="1"/>
              <a:t>Money Mitra</a:t>
            </a:r>
            <a:r>
              <a:t> follows a modular approach to enable efficient financial management through automation and AI.</a:t>
            </a:r>
          </a:p>
          <a:p>
            <a:pPr marL="0" indent="0" algn="just" defTabSz="457200">
              <a:lnSpc>
                <a:spcPct val="150000"/>
              </a:lnSpc>
              <a:spcBef>
                <a:spcPts val="1200"/>
              </a:spcBef>
              <a:buClrTx/>
              <a:buSzTx/>
              <a:buFontTx/>
              <a:buNone/>
              <a:defRPr sz="2400">
                <a:latin typeface="Times New Roman"/>
                <a:ea typeface="Times New Roman"/>
                <a:cs typeface="Times New Roman"/>
                <a:sym typeface="Times New Roman"/>
              </a:defRPr>
            </a:pPr>
            <a:r>
              <a:t>• </a:t>
            </a:r>
            <a:r>
              <a:rPr b="1"/>
              <a:t>Data Collection:</a:t>
            </a:r>
            <a:r>
              <a:t> Captures data via manual entry, OCR-based receipt scanning, and auto-read notifications.</a:t>
            </a:r>
            <a:br/>
            <a:r>
              <a:t>• </a:t>
            </a:r>
            <a:r>
              <a:rPr b="1"/>
              <a:t>Data Storage:</a:t>
            </a:r>
            <a:r>
              <a:t> Stores user data securely in Firebase Firestore.</a:t>
            </a:r>
            <a:br/>
            <a:r>
              <a:t>• </a:t>
            </a:r>
            <a:r>
              <a:rPr b="1"/>
              <a:t>Processing:</a:t>
            </a:r>
            <a:r>
              <a:t> Analyzes transactions for budgeting and expense tracking.</a:t>
            </a:r>
            <a:br/>
            <a:r>
              <a:t>• </a:t>
            </a:r>
            <a:r>
              <a:rPr b="1"/>
              <a:t>AI Module:</a:t>
            </a:r>
            <a:r>
              <a:t> Uses XGBoost via FastAPI for loan prediction and recommendations.</a:t>
            </a:r>
            <a:br/>
            <a:r>
              <a:t>• </a:t>
            </a:r>
            <a:r>
              <a:rPr b="1"/>
              <a:t>Goal Integration:</a:t>
            </a:r>
            <a:r>
              <a:t> Allocates budget surplus to goal-based savings.</a:t>
            </a:r>
            <a:br/>
            <a:r>
              <a:t>• </a:t>
            </a:r>
            <a:r>
              <a:rPr b="1"/>
              <a:t>User Interface:</a:t>
            </a:r>
            <a:r>
              <a:t> Built using Kotlin with Jetpack Compose for smooth interaction.</a:t>
            </a:r>
            <a:br/>
            <a:r>
              <a:t>• </a:t>
            </a:r>
            <a:r>
              <a:rPr b="1"/>
              <a:t>Notifications:</a:t>
            </a:r>
            <a:r>
              <a:t> Provides real-time alerts and financial insights.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ystem Architecture"/>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System Architecture</a:t>
            </a:r>
          </a:p>
        </p:txBody>
      </p:sp>
      <p:pic>
        <p:nvPicPr>
          <p:cNvPr id="152" name="Screenshot 2026-03-24 at 10.57.08 PM.png" descr="Screenshot 2026-03-24 at 10.57.08 PM.png"/>
          <p:cNvPicPr>
            <a:picLocks noChangeAspect="1"/>
          </p:cNvPicPr>
          <p:nvPr/>
        </p:nvPicPr>
        <p:blipFill>
          <a:blip r:embed="rId2">
            <a:extLst/>
          </a:blip>
          <a:stretch>
            <a:fillRect/>
          </a:stretch>
        </p:blipFill>
        <p:spPr>
          <a:xfrm>
            <a:off x="859668" y="989925"/>
            <a:ext cx="10472664" cy="572182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Use case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Use case Diagram</a:t>
            </a:r>
          </a:p>
        </p:txBody>
      </p:sp>
      <p:pic>
        <p:nvPicPr>
          <p:cNvPr id="155" name="UseCaseDiagram1.svg" descr="UseCaseDiagram1.svg"/>
          <p:cNvPicPr>
            <a:picLocks noChangeAspect="1"/>
          </p:cNvPicPr>
          <p:nvPr/>
        </p:nvPicPr>
        <p:blipFill>
          <a:blip r:embed="rId2">
            <a:extLst/>
          </a:blip>
          <a:stretch>
            <a:fillRect/>
          </a:stretch>
        </p:blipFill>
        <p:spPr>
          <a:xfrm>
            <a:off x="810251" y="927336"/>
            <a:ext cx="10571498" cy="5912603"/>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Class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Class Diagram</a:t>
            </a:r>
          </a:p>
        </p:txBody>
      </p:sp>
      <p:pic>
        <p:nvPicPr>
          <p:cNvPr id="158" name="ClassDiagram1.svg" descr="ClassDiagram1.svg"/>
          <p:cNvPicPr>
            <a:picLocks noChangeAspect="1"/>
          </p:cNvPicPr>
          <p:nvPr/>
        </p:nvPicPr>
        <p:blipFill>
          <a:blip r:embed="rId2">
            <a:extLst/>
          </a:blip>
          <a:stretch>
            <a:fillRect/>
          </a:stretch>
        </p:blipFill>
        <p:spPr>
          <a:xfrm>
            <a:off x="1364115" y="132692"/>
            <a:ext cx="9934791" cy="761811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0" name="pasted-movie.heic" descr="pasted-movie.heic"/>
          <p:cNvPicPr>
            <a:picLocks noChangeAspect="1"/>
          </p:cNvPicPr>
          <p:nvPr/>
        </p:nvPicPr>
        <p:blipFill>
          <a:blip r:embed="rId2">
            <a:extLst/>
          </a:blip>
          <a:srcRect l="0" t="3516" r="0" b="7090"/>
          <a:stretch>
            <a:fillRect/>
          </a:stretch>
        </p:blipFill>
        <p:spPr>
          <a:xfrm>
            <a:off x="1272492" y="1058075"/>
            <a:ext cx="4073712" cy="5842001"/>
          </a:xfrm>
          <a:prstGeom prst="rect">
            <a:avLst/>
          </a:prstGeom>
          <a:ln w="12700">
            <a:miter lim="400000"/>
          </a:ln>
        </p:spPr>
      </p:pic>
      <p:pic>
        <p:nvPicPr>
          <p:cNvPr id="161" name="pasted-movie.heic" descr="pasted-movie.heic"/>
          <p:cNvPicPr>
            <a:picLocks noChangeAspect="1"/>
          </p:cNvPicPr>
          <p:nvPr/>
        </p:nvPicPr>
        <p:blipFill>
          <a:blip r:embed="rId3">
            <a:extLst/>
          </a:blip>
          <a:srcRect l="0" t="5167" r="0" b="11477"/>
          <a:stretch>
            <a:fillRect/>
          </a:stretch>
        </p:blipFill>
        <p:spPr>
          <a:xfrm>
            <a:off x="6718412" y="1058075"/>
            <a:ext cx="4327435" cy="5842001"/>
          </a:xfrm>
          <a:prstGeom prst="rect">
            <a:avLst/>
          </a:prstGeom>
          <a:ln w="12700">
            <a:miter lim="400000"/>
          </a:ln>
        </p:spPr>
      </p:pic>
      <p:sp>
        <p:nvSpPr>
          <p:cNvPr id="162" name="Sequence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Sequence Diagram</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4" name="pasted-movie.heic" descr="pasted-movie.heic"/>
          <p:cNvPicPr>
            <a:picLocks noChangeAspect="1"/>
          </p:cNvPicPr>
          <p:nvPr/>
        </p:nvPicPr>
        <p:blipFill>
          <a:blip r:embed="rId2">
            <a:extLst/>
          </a:blip>
          <a:srcRect l="0" t="3136" r="0" b="6684"/>
          <a:stretch>
            <a:fillRect/>
          </a:stretch>
        </p:blipFill>
        <p:spPr>
          <a:xfrm>
            <a:off x="887084" y="1054156"/>
            <a:ext cx="5040296" cy="5842001"/>
          </a:xfrm>
          <a:prstGeom prst="rect">
            <a:avLst/>
          </a:prstGeom>
          <a:ln w="12700">
            <a:miter lim="400000"/>
          </a:ln>
        </p:spPr>
      </p:pic>
      <p:pic>
        <p:nvPicPr>
          <p:cNvPr id="165" name="pasted-movie.png" descr="pasted-movie.png"/>
          <p:cNvPicPr>
            <a:picLocks noChangeAspect="1"/>
          </p:cNvPicPr>
          <p:nvPr/>
        </p:nvPicPr>
        <p:blipFill>
          <a:blip r:embed="rId3">
            <a:extLst/>
          </a:blip>
          <a:srcRect l="0" t="2967" r="0" b="6831"/>
          <a:stretch>
            <a:fillRect/>
          </a:stretch>
        </p:blipFill>
        <p:spPr>
          <a:xfrm>
            <a:off x="6174258" y="1054156"/>
            <a:ext cx="5860302" cy="5842001"/>
          </a:xfrm>
          <a:prstGeom prst="rect">
            <a:avLst/>
          </a:prstGeom>
          <a:ln w="12700">
            <a:miter lim="400000"/>
          </a:ln>
        </p:spPr>
      </p:pic>
      <p:sp>
        <p:nvSpPr>
          <p:cNvPr id="166" name="Sequence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Sequence Diagram</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pasted-movie.png" descr="pasted-movie.png"/>
          <p:cNvPicPr>
            <a:picLocks noChangeAspect="1"/>
          </p:cNvPicPr>
          <p:nvPr/>
        </p:nvPicPr>
        <p:blipFill>
          <a:blip r:embed="rId2">
            <a:extLst/>
          </a:blip>
          <a:srcRect l="0" t="3607" r="0" b="9238"/>
          <a:stretch>
            <a:fillRect/>
          </a:stretch>
        </p:blipFill>
        <p:spPr>
          <a:xfrm>
            <a:off x="811338" y="1024574"/>
            <a:ext cx="5618022" cy="5842001"/>
          </a:xfrm>
          <a:prstGeom prst="rect">
            <a:avLst/>
          </a:prstGeom>
          <a:ln w="12700">
            <a:miter lim="400000"/>
          </a:ln>
        </p:spPr>
      </p:pic>
      <p:pic>
        <p:nvPicPr>
          <p:cNvPr id="169" name="pasted-movie.png" descr="pasted-movie.png"/>
          <p:cNvPicPr>
            <a:picLocks noChangeAspect="1"/>
          </p:cNvPicPr>
          <p:nvPr/>
        </p:nvPicPr>
        <p:blipFill>
          <a:blip r:embed="rId3">
            <a:extLst/>
          </a:blip>
          <a:srcRect l="0" t="3573" r="0" b="8182"/>
          <a:stretch>
            <a:fillRect/>
          </a:stretch>
        </p:blipFill>
        <p:spPr>
          <a:xfrm>
            <a:off x="6989301" y="1022524"/>
            <a:ext cx="4049463" cy="5842001"/>
          </a:xfrm>
          <a:prstGeom prst="rect">
            <a:avLst/>
          </a:prstGeom>
          <a:ln w="12700">
            <a:miter lim="400000"/>
          </a:ln>
        </p:spPr>
      </p:pic>
      <p:sp>
        <p:nvSpPr>
          <p:cNvPr id="170" name="Sequence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Sequence Diagram</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2" name="pasted-movie.png" descr="pasted-movie.png"/>
          <p:cNvPicPr>
            <a:picLocks noChangeAspect="1"/>
          </p:cNvPicPr>
          <p:nvPr/>
        </p:nvPicPr>
        <p:blipFill>
          <a:blip r:embed="rId2">
            <a:extLst/>
          </a:blip>
          <a:srcRect l="0" t="5083" r="0" b="12277"/>
          <a:stretch>
            <a:fillRect/>
          </a:stretch>
        </p:blipFill>
        <p:spPr>
          <a:xfrm>
            <a:off x="267051" y="998051"/>
            <a:ext cx="5611845" cy="5842001"/>
          </a:xfrm>
          <a:prstGeom prst="rect">
            <a:avLst/>
          </a:prstGeom>
          <a:ln w="12700">
            <a:miter lim="400000"/>
          </a:ln>
        </p:spPr>
      </p:pic>
      <p:pic>
        <p:nvPicPr>
          <p:cNvPr id="173" name="pasted-movie.png" descr="pasted-movie.png"/>
          <p:cNvPicPr>
            <a:picLocks noChangeAspect="1"/>
          </p:cNvPicPr>
          <p:nvPr/>
        </p:nvPicPr>
        <p:blipFill>
          <a:blip r:embed="rId3">
            <a:extLst/>
          </a:blip>
          <a:srcRect l="0" t="4124" r="0" b="9497"/>
          <a:stretch>
            <a:fillRect/>
          </a:stretch>
        </p:blipFill>
        <p:spPr>
          <a:xfrm>
            <a:off x="6056989" y="998051"/>
            <a:ext cx="6102734" cy="5842001"/>
          </a:xfrm>
          <a:prstGeom prst="rect">
            <a:avLst/>
          </a:prstGeom>
          <a:ln w="12700">
            <a:miter lim="400000"/>
          </a:ln>
        </p:spPr>
      </p:pic>
      <p:sp>
        <p:nvSpPr>
          <p:cNvPr id="174" name="Sequence Diagram"/>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Sequence Diagram</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Implementation"/>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Implementation</a:t>
            </a:r>
          </a:p>
        </p:txBody>
      </p:sp>
      <p:pic>
        <p:nvPicPr>
          <p:cNvPr id="177" name="pasted-movie.heic" descr="pasted-movie.heic"/>
          <p:cNvPicPr>
            <a:picLocks noChangeAspect="1"/>
          </p:cNvPicPr>
          <p:nvPr/>
        </p:nvPicPr>
        <p:blipFill>
          <a:blip r:embed="rId2">
            <a:extLst/>
          </a:blip>
          <a:stretch>
            <a:fillRect/>
          </a:stretch>
        </p:blipFill>
        <p:spPr>
          <a:xfrm>
            <a:off x="2790327" y="1118559"/>
            <a:ext cx="2400301" cy="5334001"/>
          </a:xfrm>
          <a:prstGeom prst="rect">
            <a:avLst/>
          </a:prstGeom>
          <a:ln w="12700">
            <a:miter lim="400000"/>
          </a:ln>
        </p:spPr>
      </p:pic>
      <p:pic>
        <p:nvPicPr>
          <p:cNvPr id="178" name="pasted-movie.heic" descr="pasted-movie.heic"/>
          <p:cNvPicPr>
            <a:picLocks noChangeAspect="1"/>
          </p:cNvPicPr>
          <p:nvPr/>
        </p:nvPicPr>
        <p:blipFill>
          <a:blip r:embed="rId3">
            <a:extLst/>
          </a:blip>
          <a:stretch>
            <a:fillRect/>
          </a:stretch>
        </p:blipFill>
        <p:spPr>
          <a:xfrm>
            <a:off x="330319" y="1118559"/>
            <a:ext cx="2400301" cy="5334001"/>
          </a:xfrm>
          <a:prstGeom prst="rect">
            <a:avLst/>
          </a:prstGeom>
          <a:ln w="12700">
            <a:miter lim="400000"/>
          </a:ln>
        </p:spPr>
      </p:pic>
      <p:pic>
        <p:nvPicPr>
          <p:cNvPr id="179" name="pasted-movie.heic" descr="pasted-movie.heic"/>
          <p:cNvPicPr>
            <a:picLocks noChangeAspect="1"/>
          </p:cNvPicPr>
          <p:nvPr/>
        </p:nvPicPr>
        <p:blipFill>
          <a:blip r:embed="rId4">
            <a:extLst/>
          </a:blip>
          <a:stretch>
            <a:fillRect/>
          </a:stretch>
        </p:blipFill>
        <p:spPr>
          <a:xfrm>
            <a:off x="5264492" y="1118559"/>
            <a:ext cx="2138353" cy="5334001"/>
          </a:xfrm>
          <a:prstGeom prst="rect">
            <a:avLst/>
          </a:prstGeom>
          <a:ln w="12700">
            <a:miter lim="400000"/>
          </a:ln>
        </p:spPr>
      </p:pic>
      <p:pic>
        <p:nvPicPr>
          <p:cNvPr id="180" name="pasted-movie.heic" descr="pasted-movie.heic"/>
          <p:cNvPicPr>
            <a:picLocks noChangeAspect="1"/>
          </p:cNvPicPr>
          <p:nvPr/>
        </p:nvPicPr>
        <p:blipFill>
          <a:blip r:embed="rId5">
            <a:extLst/>
          </a:blip>
          <a:stretch>
            <a:fillRect/>
          </a:stretch>
        </p:blipFill>
        <p:spPr>
          <a:xfrm>
            <a:off x="7476709" y="1133035"/>
            <a:ext cx="2138353" cy="4751894"/>
          </a:xfrm>
          <a:prstGeom prst="rect">
            <a:avLst/>
          </a:prstGeom>
          <a:ln w="12700">
            <a:miter lim="400000"/>
          </a:ln>
        </p:spPr>
      </p:pic>
      <p:pic>
        <p:nvPicPr>
          <p:cNvPr id="181" name="pasted-movie.heic" descr="pasted-movie.heic"/>
          <p:cNvPicPr>
            <a:picLocks noChangeAspect="1"/>
          </p:cNvPicPr>
          <p:nvPr/>
        </p:nvPicPr>
        <p:blipFill>
          <a:blip r:embed="rId6">
            <a:extLst/>
          </a:blip>
          <a:srcRect l="0" t="76783" r="0" b="0"/>
          <a:stretch>
            <a:fillRect/>
          </a:stretch>
        </p:blipFill>
        <p:spPr>
          <a:xfrm>
            <a:off x="7476709" y="5444115"/>
            <a:ext cx="2138437" cy="1103265"/>
          </a:xfrm>
          <a:prstGeom prst="rect">
            <a:avLst/>
          </a:prstGeom>
          <a:ln w="12700">
            <a:miter lim="400000"/>
          </a:ln>
        </p:spPr>
      </p:pic>
      <p:pic>
        <p:nvPicPr>
          <p:cNvPr id="182" name="pasted-movie.heic" descr="pasted-movie.heic"/>
          <p:cNvPicPr>
            <a:picLocks noChangeAspect="1"/>
          </p:cNvPicPr>
          <p:nvPr/>
        </p:nvPicPr>
        <p:blipFill>
          <a:blip r:embed="rId7">
            <a:extLst/>
          </a:blip>
          <a:stretch>
            <a:fillRect/>
          </a:stretch>
        </p:blipFill>
        <p:spPr>
          <a:xfrm>
            <a:off x="9689031" y="1132280"/>
            <a:ext cx="2005267" cy="4456149"/>
          </a:xfrm>
          <a:prstGeom prst="rect">
            <a:avLst/>
          </a:prstGeom>
          <a:ln w="12700">
            <a:miter lim="400000"/>
          </a:ln>
        </p:spPr>
      </p:pic>
      <p:pic>
        <p:nvPicPr>
          <p:cNvPr id="183" name="pasted-movie.heic" descr="pasted-movie.heic"/>
          <p:cNvPicPr>
            <a:picLocks noChangeAspect="1"/>
          </p:cNvPicPr>
          <p:nvPr/>
        </p:nvPicPr>
        <p:blipFill>
          <a:blip r:embed="rId8">
            <a:extLst/>
          </a:blip>
          <a:srcRect l="0" t="70747" r="0" b="0"/>
          <a:stretch>
            <a:fillRect/>
          </a:stretch>
        </p:blipFill>
        <p:spPr>
          <a:xfrm>
            <a:off x="9689158" y="5149986"/>
            <a:ext cx="2005155" cy="1303445"/>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Implementation"/>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Implementation</a:t>
            </a:r>
          </a:p>
        </p:txBody>
      </p:sp>
      <p:pic>
        <p:nvPicPr>
          <p:cNvPr id="186" name="Screenshot_2026-03-21-09-28-25-54.jpg" descr="Screenshot_2026-03-21-09-28-25-54.jpg"/>
          <p:cNvPicPr>
            <a:picLocks noChangeAspect="1"/>
          </p:cNvPicPr>
          <p:nvPr/>
        </p:nvPicPr>
        <p:blipFill>
          <a:blip r:embed="rId2">
            <a:extLst/>
          </a:blip>
          <a:srcRect l="0" t="0" r="0" b="50411"/>
          <a:stretch>
            <a:fillRect/>
          </a:stretch>
        </p:blipFill>
        <p:spPr>
          <a:xfrm>
            <a:off x="4612679" y="1213903"/>
            <a:ext cx="2544239" cy="5334001"/>
          </a:xfrm>
          <a:prstGeom prst="rect">
            <a:avLst/>
          </a:prstGeom>
          <a:ln w="12700">
            <a:miter lim="400000"/>
          </a:ln>
        </p:spPr>
      </p:pic>
      <p:pic>
        <p:nvPicPr>
          <p:cNvPr id="187" name="Screenshot_2026-03-21-09-20-15-26.jpg" descr="Screenshot_2026-03-21-09-20-15-26.jpg"/>
          <p:cNvPicPr>
            <a:picLocks noChangeAspect="1"/>
          </p:cNvPicPr>
          <p:nvPr/>
        </p:nvPicPr>
        <p:blipFill>
          <a:blip r:embed="rId3">
            <a:extLst/>
          </a:blip>
          <a:srcRect l="0" t="0" r="0" b="57263"/>
          <a:stretch>
            <a:fillRect/>
          </a:stretch>
        </p:blipFill>
        <p:spPr>
          <a:xfrm>
            <a:off x="238048" y="1209637"/>
            <a:ext cx="2386180" cy="5334001"/>
          </a:xfrm>
          <a:prstGeom prst="rect">
            <a:avLst/>
          </a:prstGeom>
          <a:ln w="12700">
            <a:miter lim="400000"/>
          </a:ln>
        </p:spPr>
      </p:pic>
      <p:pic>
        <p:nvPicPr>
          <p:cNvPr id="188" name="Screenshot_2026-03-21-09-20-15-26.jpg" descr="Screenshot_2026-03-21-09-20-15-26.jpg"/>
          <p:cNvPicPr>
            <a:picLocks noChangeAspect="1"/>
          </p:cNvPicPr>
          <p:nvPr/>
        </p:nvPicPr>
        <p:blipFill>
          <a:blip r:embed="rId3">
            <a:extLst/>
          </a:blip>
          <a:srcRect l="0" t="53623" r="0" b="0"/>
          <a:stretch>
            <a:fillRect/>
          </a:stretch>
        </p:blipFill>
        <p:spPr>
          <a:xfrm>
            <a:off x="2663290" y="1887475"/>
            <a:ext cx="1910042" cy="4633240"/>
          </a:xfrm>
          <a:prstGeom prst="rect">
            <a:avLst/>
          </a:prstGeom>
          <a:ln w="12700">
            <a:miter lim="400000"/>
          </a:ln>
        </p:spPr>
      </p:pic>
      <p:pic>
        <p:nvPicPr>
          <p:cNvPr id="189" name="Screenshot_2026-03-21-09-28-25-54.jpg" descr="Screenshot_2026-03-21-09-28-25-54.jpg"/>
          <p:cNvPicPr>
            <a:picLocks noChangeAspect="1"/>
          </p:cNvPicPr>
          <p:nvPr/>
        </p:nvPicPr>
        <p:blipFill>
          <a:blip r:embed="rId2">
            <a:extLst/>
          </a:blip>
          <a:srcRect l="2247" t="49977" r="2247" b="4465"/>
          <a:stretch>
            <a:fillRect/>
          </a:stretch>
        </p:blipFill>
        <p:spPr>
          <a:xfrm>
            <a:off x="7196274" y="1213903"/>
            <a:ext cx="2644873" cy="5334001"/>
          </a:xfrm>
          <a:prstGeom prst="rect">
            <a:avLst/>
          </a:prstGeom>
          <a:ln w="12700">
            <a:miter lim="400000"/>
          </a:ln>
        </p:spPr>
      </p:pic>
      <p:pic>
        <p:nvPicPr>
          <p:cNvPr id="190" name="pasted-movie.heic" descr="pasted-movie.heic"/>
          <p:cNvPicPr>
            <a:picLocks noChangeAspect="1"/>
          </p:cNvPicPr>
          <p:nvPr/>
        </p:nvPicPr>
        <p:blipFill>
          <a:blip r:embed="rId4">
            <a:extLst/>
          </a:blip>
          <a:stretch>
            <a:fillRect/>
          </a:stretch>
        </p:blipFill>
        <p:spPr>
          <a:xfrm>
            <a:off x="9880279" y="1224249"/>
            <a:ext cx="2073498" cy="4607772"/>
          </a:xfrm>
          <a:prstGeom prst="rect">
            <a:avLst/>
          </a:prstGeom>
          <a:ln w="12700">
            <a:miter lim="400000"/>
          </a:ln>
        </p:spPr>
      </p:pic>
      <p:pic>
        <p:nvPicPr>
          <p:cNvPr id="191" name="pasted-movie.heic" descr="pasted-movie.heic"/>
          <p:cNvPicPr>
            <a:picLocks noChangeAspect="1"/>
          </p:cNvPicPr>
          <p:nvPr/>
        </p:nvPicPr>
        <p:blipFill>
          <a:blip r:embed="rId5">
            <a:extLst/>
          </a:blip>
          <a:srcRect l="0" t="74382" r="0" b="6039"/>
          <a:stretch>
            <a:fillRect/>
          </a:stretch>
        </p:blipFill>
        <p:spPr>
          <a:xfrm>
            <a:off x="9880279" y="5626928"/>
            <a:ext cx="2073545" cy="902132"/>
          </a:xfrm>
          <a:prstGeom prst="rect">
            <a:avLst/>
          </a:prstGeom>
          <a:ln w="12700">
            <a:miter lim="400000"/>
          </a:ln>
        </p:spPr>
      </p:pic>
      <p:pic>
        <p:nvPicPr>
          <p:cNvPr id="192" name="Screenshot_2026-03-21-09-20-15-26.jpg" descr="Screenshot_2026-03-21-09-20-15-26.jpg"/>
          <p:cNvPicPr>
            <a:picLocks noChangeAspect="1"/>
          </p:cNvPicPr>
          <p:nvPr/>
        </p:nvPicPr>
        <p:blipFill>
          <a:blip r:embed="rId3">
            <a:extLst/>
          </a:blip>
          <a:srcRect l="0" t="42264" r="0" b="51328"/>
          <a:stretch>
            <a:fillRect/>
          </a:stretch>
        </p:blipFill>
        <p:spPr>
          <a:xfrm>
            <a:off x="2633326" y="1241213"/>
            <a:ext cx="1970232" cy="660262"/>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Implementation"/>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Implementation</a:t>
            </a:r>
          </a:p>
        </p:txBody>
      </p:sp>
      <p:pic>
        <p:nvPicPr>
          <p:cNvPr id="195" name="pasted-movie.heic" descr="pasted-movie.heic"/>
          <p:cNvPicPr>
            <a:picLocks noChangeAspect="1"/>
          </p:cNvPicPr>
          <p:nvPr/>
        </p:nvPicPr>
        <p:blipFill>
          <a:blip r:embed="rId2">
            <a:extLst/>
          </a:blip>
          <a:stretch>
            <a:fillRect/>
          </a:stretch>
        </p:blipFill>
        <p:spPr>
          <a:xfrm>
            <a:off x="312953" y="1148890"/>
            <a:ext cx="2286001" cy="5080001"/>
          </a:xfrm>
          <a:prstGeom prst="rect">
            <a:avLst/>
          </a:prstGeom>
          <a:ln w="12700">
            <a:miter lim="400000"/>
          </a:ln>
        </p:spPr>
      </p:pic>
      <p:pic>
        <p:nvPicPr>
          <p:cNvPr id="196" name="pasted-movie.heic" descr="pasted-movie.heic"/>
          <p:cNvPicPr>
            <a:picLocks noChangeAspect="1"/>
          </p:cNvPicPr>
          <p:nvPr/>
        </p:nvPicPr>
        <p:blipFill>
          <a:blip r:embed="rId3">
            <a:extLst/>
          </a:blip>
          <a:stretch>
            <a:fillRect/>
          </a:stretch>
        </p:blipFill>
        <p:spPr>
          <a:xfrm>
            <a:off x="4953000" y="1148890"/>
            <a:ext cx="2286000" cy="5080001"/>
          </a:xfrm>
          <a:prstGeom prst="rect">
            <a:avLst/>
          </a:prstGeom>
          <a:ln w="12700">
            <a:miter lim="400000"/>
          </a:ln>
        </p:spPr>
      </p:pic>
      <p:pic>
        <p:nvPicPr>
          <p:cNvPr id="197" name="pasted-movie.heic" descr="pasted-movie.heic"/>
          <p:cNvPicPr>
            <a:picLocks noChangeAspect="1"/>
          </p:cNvPicPr>
          <p:nvPr/>
        </p:nvPicPr>
        <p:blipFill>
          <a:blip r:embed="rId4">
            <a:extLst/>
          </a:blip>
          <a:stretch>
            <a:fillRect/>
          </a:stretch>
        </p:blipFill>
        <p:spPr>
          <a:xfrm>
            <a:off x="9593046" y="1148890"/>
            <a:ext cx="2286001" cy="5080001"/>
          </a:xfrm>
          <a:prstGeom prst="rect">
            <a:avLst/>
          </a:prstGeom>
          <a:ln w="12700">
            <a:miter lim="400000"/>
          </a:ln>
        </p:spPr>
      </p:pic>
      <p:pic>
        <p:nvPicPr>
          <p:cNvPr id="198" name="pasted-movie.heic" descr="pasted-movie.heic"/>
          <p:cNvPicPr>
            <a:picLocks noChangeAspect="1"/>
          </p:cNvPicPr>
          <p:nvPr/>
        </p:nvPicPr>
        <p:blipFill>
          <a:blip r:embed="rId5">
            <a:extLst/>
          </a:blip>
          <a:stretch>
            <a:fillRect/>
          </a:stretch>
        </p:blipFill>
        <p:spPr>
          <a:xfrm>
            <a:off x="7273022" y="1148890"/>
            <a:ext cx="2286001" cy="5080001"/>
          </a:xfrm>
          <a:prstGeom prst="rect">
            <a:avLst/>
          </a:prstGeom>
          <a:ln w="12700">
            <a:miter lim="400000"/>
          </a:ln>
        </p:spPr>
      </p:pic>
      <p:pic>
        <p:nvPicPr>
          <p:cNvPr id="199" name="pasted-movie.heic" descr="pasted-movie.heic"/>
          <p:cNvPicPr>
            <a:picLocks noChangeAspect="1"/>
          </p:cNvPicPr>
          <p:nvPr/>
        </p:nvPicPr>
        <p:blipFill>
          <a:blip r:embed="rId6">
            <a:extLst/>
          </a:blip>
          <a:srcRect l="0" t="0" r="0" b="0"/>
          <a:stretch>
            <a:fillRect/>
          </a:stretch>
        </p:blipFill>
        <p:spPr>
          <a:xfrm>
            <a:off x="2632976" y="1148890"/>
            <a:ext cx="2286001" cy="5080001"/>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Implementation"/>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Implementation</a:t>
            </a:r>
          </a:p>
        </p:txBody>
      </p:sp>
      <p:pic>
        <p:nvPicPr>
          <p:cNvPr id="202" name="pasted-movie.heic" descr="pasted-movie.heic"/>
          <p:cNvPicPr>
            <a:picLocks noChangeAspect="1"/>
          </p:cNvPicPr>
          <p:nvPr/>
        </p:nvPicPr>
        <p:blipFill>
          <a:blip r:embed="rId2">
            <a:extLst/>
          </a:blip>
          <a:stretch>
            <a:fillRect/>
          </a:stretch>
        </p:blipFill>
        <p:spPr>
          <a:xfrm>
            <a:off x="2639722" y="1226857"/>
            <a:ext cx="2286001" cy="5080001"/>
          </a:xfrm>
          <a:prstGeom prst="rect">
            <a:avLst/>
          </a:prstGeom>
          <a:ln w="12700">
            <a:miter lim="400000"/>
          </a:ln>
        </p:spPr>
      </p:pic>
      <p:pic>
        <p:nvPicPr>
          <p:cNvPr id="203" name="pasted-movie.heic" descr="pasted-movie.heic"/>
          <p:cNvPicPr>
            <a:picLocks noChangeAspect="1"/>
          </p:cNvPicPr>
          <p:nvPr/>
        </p:nvPicPr>
        <p:blipFill>
          <a:blip r:embed="rId3">
            <a:extLst/>
          </a:blip>
          <a:stretch>
            <a:fillRect/>
          </a:stretch>
        </p:blipFill>
        <p:spPr>
          <a:xfrm>
            <a:off x="7266277" y="1226857"/>
            <a:ext cx="2286001" cy="5080001"/>
          </a:xfrm>
          <a:prstGeom prst="rect">
            <a:avLst/>
          </a:prstGeom>
          <a:ln w="12700">
            <a:miter lim="400000"/>
          </a:ln>
        </p:spPr>
      </p:pic>
      <p:pic>
        <p:nvPicPr>
          <p:cNvPr id="204" name="pasted-movie.heic" descr="pasted-movie.heic"/>
          <p:cNvPicPr>
            <a:picLocks noChangeAspect="1"/>
          </p:cNvPicPr>
          <p:nvPr/>
        </p:nvPicPr>
        <p:blipFill>
          <a:blip r:embed="rId4">
            <a:extLst/>
          </a:blip>
          <a:stretch>
            <a:fillRect/>
          </a:stretch>
        </p:blipFill>
        <p:spPr>
          <a:xfrm>
            <a:off x="4953000" y="1226857"/>
            <a:ext cx="2286000" cy="5080001"/>
          </a:xfrm>
          <a:prstGeom prst="rect">
            <a:avLst/>
          </a:prstGeom>
          <a:ln w="12700">
            <a:miter lim="400000"/>
          </a:ln>
        </p:spPr>
      </p:pic>
      <p:pic>
        <p:nvPicPr>
          <p:cNvPr id="205" name="pasted-movie.heic" descr="pasted-movie.heic"/>
          <p:cNvPicPr>
            <a:picLocks noChangeAspect="1"/>
          </p:cNvPicPr>
          <p:nvPr/>
        </p:nvPicPr>
        <p:blipFill>
          <a:blip r:embed="rId5">
            <a:extLst/>
          </a:blip>
          <a:stretch>
            <a:fillRect/>
          </a:stretch>
        </p:blipFill>
        <p:spPr>
          <a:xfrm>
            <a:off x="326445" y="1226857"/>
            <a:ext cx="2286001" cy="5080001"/>
          </a:xfrm>
          <a:prstGeom prst="rect">
            <a:avLst/>
          </a:prstGeom>
          <a:ln w="12700">
            <a:miter lim="400000"/>
          </a:ln>
        </p:spPr>
      </p:pic>
      <p:pic>
        <p:nvPicPr>
          <p:cNvPr id="206" name="pasted-movie.heic" descr="pasted-movie.heic"/>
          <p:cNvPicPr>
            <a:picLocks noChangeAspect="1"/>
          </p:cNvPicPr>
          <p:nvPr/>
        </p:nvPicPr>
        <p:blipFill>
          <a:blip r:embed="rId6">
            <a:extLst/>
          </a:blip>
          <a:stretch>
            <a:fillRect/>
          </a:stretch>
        </p:blipFill>
        <p:spPr>
          <a:xfrm>
            <a:off x="9579554" y="1226857"/>
            <a:ext cx="2286001" cy="5080001"/>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Results"/>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Results</a:t>
            </a:r>
          </a:p>
        </p:txBody>
      </p:sp>
      <p:sp>
        <p:nvSpPr>
          <p:cNvPr id="209" name="The implementation of Money Mitra successfully provides an integrated and intelligent financial management system.…"/>
          <p:cNvSpPr txBox="1"/>
          <p:nvPr>
            <p:ph type="body" idx="4294967295"/>
          </p:nvPr>
        </p:nvSpPr>
        <p:spPr>
          <a:xfrm>
            <a:off x="571500" y="1005416"/>
            <a:ext cx="11049000" cy="5718031"/>
          </a:xfrm>
          <a:prstGeom prst="rect">
            <a:avLst/>
          </a:prstGeom>
        </p:spPr>
        <p:txBody>
          <a:bodyPr lIns="45719" tIns="45719" rIns="45719" bIns="45719"/>
          <a:lstStyle/>
          <a:p>
            <a:pPr marL="0" indent="0" algn="just" defTabSz="425195">
              <a:lnSpc>
                <a:spcPct val="110000"/>
              </a:lnSpc>
              <a:spcBef>
                <a:spcPts val="1100"/>
              </a:spcBef>
              <a:buClrTx/>
              <a:buSzTx/>
              <a:buFontTx/>
              <a:buNone/>
              <a:defRPr sz="2604">
                <a:latin typeface="Times New Roman"/>
                <a:ea typeface="Times New Roman"/>
                <a:cs typeface="Times New Roman"/>
                <a:sym typeface="Times New Roman"/>
              </a:defRPr>
            </a:pPr>
            <a:r>
              <a:t>             The implementation of </a:t>
            </a:r>
            <a:r>
              <a:rPr b="1"/>
              <a:t>Money Mitra</a:t>
            </a:r>
            <a:r>
              <a:t> successfully provides an integrated and intelligent financial management system.</a:t>
            </a:r>
          </a:p>
          <a:p>
            <a:pPr marL="0" indent="0" algn="just" defTabSz="425195">
              <a:lnSpc>
                <a:spcPct val="110000"/>
              </a:lnSpc>
              <a:spcBef>
                <a:spcPts val="1100"/>
              </a:spcBef>
              <a:buClrTx/>
              <a:buSzTx/>
              <a:buFontTx/>
              <a:buNone/>
              <a:defRPr sz="2604">
                <a:latin typeface="Times New Roman"/>
                <a:ea typeface="Times New Roman"/>
                <a:cs typeface="Times New Roman"/>
                <a:sym typeface="Times New Roman"/>
              </a:defRPr>
            </a:pPr>
            <a:r>
              <a:t>• </a:t>
            </a:r>
            <a:r>
              <a:rPr b="1"/>
              <a:t>Accurate Transaction Tracking:</a:t>
            </a:r>
            <a:r>
              <a:t> Supports manual entry, OCR-based receipt scanning, and auto-read notification capture for reliable data collection.</a:t>
            </a:r>
            <a:br/>
            <a:r>
              <a:t>• </a:t>
            </a:r>
            <a:r>
              <a:rPr b="1"/>
              <a:t>Improved Financial Awareness:</a:t>
            </a:r>
            <a:r>
              <a:t> Users can monitor expenses, budgets, and multiple accounts effectively.</a:t>
            </a:r>
            <a:br/>
            <a:r>
              <a:t>• </a:t>
            </a:r>
            <a:r>
              <a:rPr b="1"/>
              <a:t>Efficient Goal Achievement:</a:t>
            </a:r>
            <a:r>
              <a:t> Enables goal-based savings with automated surplus allocation.</a:t>
            </a:r>
            <a:br/>
            <a:r>
              <a:t>• </a:t>
            </a:r>
            <a:r>
              <a:rPr b="1"/>
              <a:t>AI-Based Loan Insights:</a:t>
            </a:r>
            <a:r>
              <a:t> Provides loan eligibility prediction, risk analysis, and recommendations.</a:t>
            </a:r>
            <a:br/>
            <a:r>
              <a:t>• </a:t>
            </a:r>
            <a:r>
              <a:rPr b="1"/>
              <a:t>Chit Fund Management:</a:t>
            </a:r>
            <a:r>
              <a:t> Simplifies member tracking, collections, and payouts.</a:t>
            </a:r>
            <a:br/>
            <a:r>
              <a:t>• </a:t>
            </a:r>
            <a:r>
              <a:rPr b="1"/>
              <a:t>Real-time Notifications:</a:t>
            </a:r>
            <a:r>
              <a:t> Delivers timely alerts and financial insights for better decision-making.</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Conclusion and Future Scope"/>
          <p:cNvSpPr txBox="1"/>
          <p:nvPr>
            <p:ph type="title" idx="4294967295"/>
          </p:nvPr>
        </p:nvSpPr>
        <p:spPr>
          <a:xfrm>
            <a:off x="571500" y="16883"/>
            <a:ext cx="10515600" cy="1320801"/>
          </a:xfrm>
          <a:prstGeom prst="rect">
            <a:avLst/>
          </a:prstGeom>
        </p:spPr>
        <p:txBody>
          <a:bodyPr/>
          <a:lstStyle>
            <a:lvl1pPr defTabSz="457200">
              <a:lnSpc>
                <a:spcPct val="100000"/>
              </a:lnSpc>
              <a:spcBef>
                <a:spcPts val="1200"/>
              </a:spcBef>
              <a:defRPr b="1" u="sng">
                <a:latin typeface="Times Roman"/>
                <a:ea typeface="Times Roman"/>
                <a:cs typeface="Times Roman"/>
                <a:sym typeface="Times Roman"/>
              </a:defRPr>
            </a:lvl1pPr>
          </a:lstStyle>
          <a:p>
            <a:pPr/>
            <a:r>
              <a:t>Conclusion and Future Scope</a:t>
            </a:r>
          </a:p>
        </p:txBody>
      </p:sp>
      <p:sp>
        <p:nvSpPr>
          <p:cNvPr id="212" name="Conclusion:…"/>
          <p:cNvSpPr txBox="1"/>
          <p:nvPr>
            <p:ph type="body" idx="4294967295"/>
          </p:nvPr>
        </p:nvSpPr>
        <p:spPr>
          <a:xfrm>
            <a:off x="571500" y="1005416"/>
            <a:ext cx="11049000" cy="5718031"/>
          </a:xfrm>
          <a:prstGeom prst="rect">
            <a:avLst/>
          </a:prstGeom>
        </p:spPr>
        <p:txBody>
          <a:bodyPr lIns="45719" tIns="45719" rIns="45719" bIns="45719"/>
          <a:lstStyle/>
          <a:p>
            <a:pPr marL="0" indent="0" algn="just" defTabSz="397763">
              <a:lnSpc>
                <a:spcPct val="100000"/>
              </a:lnSpc>
              <a:spcBef>
                <a:spcPts val="2400"/>
              </a:spcBef>
              <a:buClrTx/>
              <a:buSzTx/>
              <a:buFontTx/>
              <a:buNone/>
              <a:defRPr sz="2262">
                <a:latin typeface="Times New Roman"/>
                <a:ea typeface="Times New Roman"/>
                <a:cs typeface="Times New Roman"/>
                <a:sym typeface="Times New Roman"/>
              </a:defRPr>
            </a:pPr>
            <a:r>
              <a:rPr b="1" sz="2523"/>
              <a:t>Conclusion:</a:t>
            </a:r>
            <a:endParaRPr b="1" sz="2523"/>
          </a:p>
          <a:p>
            <a:pPr marL="0" indent="0" algn="just" defTabSz="397763">
              <a:lnSpc>
                <a:spcPct val="110000"/>
              </a:lnSpc>
              <a:spcBef>
                <a:spcPts val="1600"/>
              </a:spcBef>
              <a:buClrTx/>
              <a:buSzTx/>
              <a:buFontTx/>
              <a:buNone/>
              <a:defRPr sz="2262">
                <a:latin typeface="Times New Roman"/>
                <a:ea typeface="Times New Roman"/>
                <a:cs typeface="Times New Roman"/>
                <a:sym typeface="Times New Roman"/>
              </a:defRPr>
            </a:pPr>
            <a:r>
              <a:t>             Money Mitra successfully provides an integrated and intelligent financial management platform by combining transaction tracking, budgeting, goal-based savings, AI-driven loan prediction, and chit fund management into a single system. The application enhances financial awareness, automates key processes such as transaction capture and savings, and supports users in making informed financial decisions through data-driven insights.</a:t>
            </a:r>
          </a:p>
          <a:p>
            <a:pPr marL="0" indent="0" algn="just" defTabSz="397763">
              <a:lnSpc>
                <a:spcPct val="100000"/>
              </a:lnSpc>
              <a:spcBef>
                <a:spcPts val="1600"/>
              </a:spcBef>
              <a:buClrTx/>
              <a:buSzTx/>
              <a:buFontTx/>
              <a:buNone/>
              <a:defRPr sz="2262">
                <a:latin typeface="Times New Roman"/>
                <a:ea typeface="Times New Roman"/>
                <a:cs typeface="Times New Roman"/>
                <a:sym typeface="Times New Roman"/>
              </a:defRPr>
            </a:pPr>
            <a:r>
              <a:rPr b="1" sz="2523"/>
              <a:t>Future Scope:</a:t>
            </a:r>
          </a:p>
          <a:p>
            <a:pPr marL="0" indent="0" algn="just" defTabSz="397763">
              <a:lnSpc>
                <a:spcPct val="110000"/>
              </a:lnSpc>
              <a:spcBef>
                <a:spcPts val="1100"/>
              </a:spcBef>
              <a:buClrTx/>
              <a:buSzTx/>
              <a:buFontTx/>
              <a:buNone/>
              <a:defRPr sz="2262">
                <a:latin typeface="Times New Roman"/>
                <a:ea typeface="Times New Roman"/>
                <a:cs typeface="Times New Roman"/>
                <a:sym typeface="Times New Roman"/>
              </a:defRPr>
            </a:pPr>
            <a:r>
              <a:t>• Integration with bank APIs for real-time transaction syncing</a:t>
            </a:r>
            <a:br/>
            <a:r>
              <a:t>• Advanced AI insights for spending analysis and investment suggestions</a:t>
            </a:r>
            <a:br/>
            <a:r>
              <a:t>• Multi-goal auto allocation and smart savings strategies</a:t>
            </a:r>
            <a:br/>
            <a:r>
              <a:t>• Cross-platform support (iOS and web)</a:t>
            </a:r>
            <a:br/>
            <a:r>
              <a:t>• Enhanced security features and document verification automation</a:t>
            </a:r>
            <a:br/>
            <a:r>
              <a:t>• Personalized financial advisory and credit score tracking</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Thank You!!"/>
          <p:cNvSpPr txBox="1"/>
          <p:nvPr>
            <p:ph type="title" idx="4294967295"/>
          </p:nvPr>
        </p:nvSpPr>
        <p:spPr>
          <a:xfrm>
            <a:off x="2933333" y="1702060"/>
            <a:ext cx="6325334" cy="3453880"/>
          </a:xfrm>
          <a:prstGeom prst="rect">
            <a:avLst/>
          </a:prstGeom>
        </p:spPr>
        <p:txBody>
          <a:bodyPr/>
          <a:lstStyle>
            <a:lvl1pPr algn="ctr" defTabSz="457200">
              <a:lnSpc>
                <a:spcPct val="100000"/>
              </a:lnSpc>
              <a:spcBef>
                <a:spcPts val="1200"/>
              </a:spcBef>
              <a:defRPr b="1" sz="6900">
                <a:latin typeface="Times Roman"/>
                <a:ea typeface="Times Roman"/>
                <a:cs typeface="Times Roman"/>
                <a:sym typeface="Times Roman"/>
              </a:defRPr>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